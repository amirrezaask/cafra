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400" rtl="0" fontAlgn="auto" latinLnBrk="0" hangingPunct="0">
      <a:lnSpc>
        <a:spcPct val="10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FFFFFF"/>
        </a:solidFill>
        <a:effectLst/>
        <a:uFillTx/>
        <a:latin typeface="+mj-lt"/>
        <a:ea typeface="+mj-ea"/>
        <a:cs typeface="+mj-cs"/>
        <a:sym typeface="Graphik"/>
      </a:defRPr>
    </a:lvl1pPr>
    <a:lvl2pPr marL="0" marR="0" indent="457200" algn="l" defTabSz="2438400" rtl="0" fontAlgn="auto" latinLnBrk="0" hangingPunct="0">
      <a:lnSpc>
        <a:spcPct val="10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FFFFFF"/>
        </a:solidFill>
        <a:effectLst/>
        <a:uFillTx/>
        <a:latin typeface="+mj-lt"/>
        <a:ea typeface="+mj-ea"/>
        <a:cs typeface="+mj-cs"/>
        <a:sym typeface="Graphik"/>
      </a:defRPr>
    </a:lvl2pPr>
    <a:lvl3pPr marL="0" marR="0" indent="914400" algn="l" defTabSz="2438400" rtl="0" fontAlgn="auto" latinLnBrk="0" hangingPunct="0">
      <a:lnSpc>
        <a:spcPct val="10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FFFFFF"/>
        </a:solidFill>
        <a:effectLst/>
        <a:uFillTx/>
        <a:latin typeface="+mj-lt"/>
        <a:ea typeface="+mj-ea"/>
        <a:cs typeface="+mj-cs"/>
        <a:sym typeface="Graphik"/>
      </a:defRPr>
    </a:lvl3pPr>
    <a:lvl4pPr marL="0" marR="0" indent="1371600" algn="l" defTabSz="2438400" rtl="0" fontAlgn="auto" latinLnBrk="0" hangingPunct="0">
      <a:lnSpc>
        <a:spcPct val="10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FFFFFF"/>
        </a:solidFill>
        <a:effectLst/>
        <a:uFillTx/>
        <a:latin typeface="+mj-lt"/>
        <a:ea typeface="+mj-ea"/>
        <a:cs typeface="+mj-cs"/>
        <a:sym typeface="Graphik"/>
      </a:defRPr>
    </a:lvl4pPr>
    <a:lvl5pPr marL="0" marR="0" indent="1828800" algn="l" defTabSz="2438400" rtl="0" fontAlgn="auto" latinLnBrk="0" hangingPunct="0">
      <a:lnSpc>
        <a:spcPct val="10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FFFFFF"/>
        </a:solidFill>
        <a:effectLst/>
        <a:uFillTx/>
        <a:latin typeface="+mj-lt"/>
        <a:ea typeface="+mj-ea"/>
        <a:cs typeface="+mj-cs"/>
        <a:sym typeface="Graphik"/>
      </a:defRPr>
    </a:lvl5pPr>
    <a:lvl6pPr marL="0" marR="0" indent="2286000" algn="l" defTabSz="2438400" rtl="0" fontAlgn="auto" latinLnBrk="0" hangingPunct="0">
      <a:lnSpc>
        <a:spcPct val="10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FFFFFF"/>
        </a:solidFill>
        <a:effectLst/>
        <a:uFillTx/>
        <a:latin typeface="+mj-lt"/>
        <a:ea typeface="+mj-ea"/>
        <a:cs typeface="+mj-cs"/>
        <a:sym typeface="Graphik"/>
      </a:defRPr>
    </a:lvl6pPr>
    <a:lvl7pPr marL="0" marR="0" indent="2743200" algn="l" defTabSz="2438400" rtl="0" fontAlgn="auto" latinLnBrk="0" hangingPunct="0">
      <a:lnSpc>
        <a:spcPct val="10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FFFFFF"/>
        </a:solidFill>
        <a:effectLst/>
        <a:uFillTx/>
        <a:latin typeface="+mj-lt"/>
        <a:ea typeface="+mj-ea"/>
        <a:cs typeface="+mj-cs"/>
        <a:sym typeface="Graphik"/>
      </a:defRPr>
    </a:lvl7pPr>
    <a:lvl8pPr marL="0" marR="0" indent="3200400" algn="l" defTabSz="2438400" rtl="0" fontAlgn="auto" latinLnBrk="0" hangingPunct="0">
      <a:lnSpc>
        <a:spcPct val="10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FFFFFF"/>
        </a:solidFill>
        <a:effectLst/>
        <a:uFillTx/>
        <a:latin typeface="+mj-lt"/>
        <a:ea typeface="+mj-ea"/>
        <a:cs typeface="+mj-cs"/>
        <a:sym typeface="Graphik"/>
      </a:defRPr>
    </a:lvl8pPr>
    <a:lvl9pPr marL="0" marR="0" indent="3657600" algn="l" defTabSz="2438400" rtl="0" fontAlgn="auto" latinLnBrk="0" hangingPunct="0">
      <a:lnSpc>
        <a:spcPct val="10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FFFFFF"/>
        </a:solidFill>
        <a:effectLst/>
        <a:uFillTx/>
        <a:latin typeface="+mj-lt"/>
        <a:ea typeface="+mj-ea"/>
        <a:cs typeface="+mj-cs"/>
        <a:sym typeface="Graphik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74767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381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381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381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74767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254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38100" cap="flat">
              <a:solidFill>
                <a:srgbClr val="00A1FF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solidFill>
            <a:srgbClr val="014D80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747676"/>
          </a:solidFill>
        </a:fill>
      </a:tcStyle>
    </a:band2H>
    <a:firstCol>
      <a:tcTxStyle b="off" i="off">
        <a:font>
          <a:latin typeface="Graphik Medium"/>
          <a:ea typeface="Graphik Medium"/>
          <a:cs typeface="Graphik Medium"/>
        </a:font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13B100"/>
          </a:solidFill>
        </a:fill>
      </a:tcStyle>
    </a:firstCol>
    <a:lastRow>
      <a:tcTxStyle b="off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38100" cap="flat">
              <a:solidFill>
                <a:srgbClr val="61D836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Graphik Medium"/>
          <a:ea typeface="Graphik Medium"/>
          <a:cs typeface="Graphik Medium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552055"/>
              <a:lumOff val="-12548"/>
            </a:schemeClr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747676"/>
          </a:solidFill>
        </a:fill>
      </a:tcStyle>
    </a:band2H>
    <a:firstCol>
      <a:tcTxStyle b="off" i="off">
        <a:font>
          <a:latin typeface="Graphik Medium"/>
          <a:ea typeface="Graphik Medium"/>
          <a:cs typeface="Graphik Medium"/>
        </a:font>
        <a:srgbClr val="000000"/>
      </a:tcTxStyle>
      <a:tcStyle>
        <a:tcBdr>
          <a:left>
            <a:ln w="12700" cap="flat">
              <a:solidFill>
                <a:srgbClr val="E3E5E8"/>
              </a:solidFill>
              <a:prstDash val="solid"/>
              <a:miter lim="400000"/>
            </a:ln>
          </a:left>
          <a:right>
            <a:ln w="254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chemeClr val="accent4">
              <a:hueOff val="-613784"/>
              <a:lumOff val="1275"/>
            </a:schemeClr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38100" cap="flat">
              <a:solidFill>
                <a:schemeClr val="accent4">
                  <a:hueOff val="-613784"/>
                  <a:lumOff val="1275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rgbClr val="E3E5E8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Graphik Medium"/>
          <a:ea typeface="Graphik Medium"/>
          <a:cs typeface="Graphik Medium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E3E5E8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FF5300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C0C0C0"/>
              </a:solidFill>
              <a:prstDash val="solid"/>
              <a:miter lim="400000"/>
            </a:ln>
          </a:left>
          <a:right>
            <a:ln w="12700" cap="flat">
              <a:solidFill>
                <a:srgbClr val="C0C0C0"/>
              </a:solidFill>
              <a:prstDash val="solid"/>
              <a:miter lim="400000"/>
            </a:ln>
          </a:right>
          <a:top>
            <a:ln w="12700" cap="flat">
              <a:solidFill>
                <a:srgbClr val="C0C0C0"/>
              </a:solidFill>
              <a:prstDash val="solid"/>
              <a:miter lim="400000"/>
            </a:ln>
          </a:top>
          <a:bottom>
            <a:ln w="12700" cap="flat">
              <a:solidFill>
                <a:srgbClr val="C0C0C0"/>
              </a:solidFill>
              <a:prstDash val="solid"/>
              <a:miter lim="400000"/>
            </a:ln>
          </a:bottom>
          <a:insideH>
            <a:ln w="12700" cap="flat">
              <a:solidFill>
                <a:srgbClr val="C0C0C0"/>
              </a:solidFill>
              <a:prstDash val="solid"/>
              <a:miter lim="400000"/>
            </a:ln>
          </a:insideH>
          <a:insideV>
            <a:ln w="12700" cap="flat">
              <a:solidFill>
                <a:srgbClr val="C0C0C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74767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C0C0C0"/>
              </a:solidFill>
              <a:prstDash val="solid"/>
              <a:miter lim="400000"/>
            </a:ln>
          </a:right>
          <a:top>
            <a:ln w="12700" cap="flat">
              <a:solidFill>
                <a:srgbClr val="C0C0C0"/>
              </a:solidFill>
              <a:prstDash val="solid"/>
              <a:miter lim="400000"/>
            </a:ln>
          </a:top>
          <a:bottom>
            <a:ln w="12700" cap="flat">
              <a:solidFill>
                <a:srgbClr val="C0C0C0"/>
              </a:solidFill>
              <a:prstDash val="solid"/>
              <a:miter lim="400000"/>
            </a:ln>
          </a:bottom>
          <a:insideH>
            <a:ln w="12700" cap="flat">
              <a:solidFill>
                <a:srgbClr val="C0C0C0"/>
              </a:solidFill>
              <a:prstDash val="solid"/>
              <a:miter lim="400000"/>
            </a:ln>
          </a:insideH>
          <a:insideV>
            <a:ln w="12700" cap="flat">
              <a:solidFill>
                <a:srgbClr val="C0C0C0"/>
              </a:solidFill>
              <a:prstDash val="solid"/>
              <a:miter lim="400000"/>
            </a:ln>
          </a:insideV>
        </a:tcBdr>
        <a:fill>
          <a:solidFill>
            <a:srgbClr val="98195F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38100" cap="flat">
              <a:solidFill>
                <a:schemeClr val="accent6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C0C0C0"/>
              </a:solidFill>
              <a:prstDash val="solid"/>
              <a:miter lim="400000"/>
            </a:ln>
          </a:left>
          <a:right>
            <a:ln w="12700" cap="flat">
              <a:solidFill>
                <a:srgbClr val="C0C0C0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C0C0C0"/>
              </a:solidFill>
              <a:prstDash val="solid"/>
              <a:miter lim="400000"/>
            </a:ln>
          </a:bottom>
          <a:insideH>
            <a:ln w="12700" cap="flat">
              <a:solidFill>
                <a:srgbClr val="C0C0C0"/>
              </a:solidFill>
              <a:prstDash val="solid"/>
              <a:miter lim="400000"/>
            </a:ln>
          </a:insideH>
          <a:insideV>
            <a:ln w="12700" cap="flat">
              <a:solidFill>
                <a:srgbClr val="C0C0C0"/>
              </a:solidFill>
              <a:prstDash val="solid"/>
              <a:miter lim="400000"/>
            </a:ln>
          </a:insideV>
        </a:tcBdr>
        <a:fill>
          <a:solidFill>
            <a:srgbClr val="650E48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74767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381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381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381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64646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resentation Title"/>
          <p:cNvSpPr txBox="1"/>
          <p:nvPr>
            <p:ph type="title" hasCustomPrompt="1"/>
          </p:nvPr>
        </p:nvSpPr>
        <p:spPr>
          <a:xfrm>
            <a:off x="1270000" y="3289300"/>
            <a:ext cx="21844000" cy="3879454"/>
          </a:xfrm>
          <a:prstGeom prst="rect">
            <a:avLst/>
          </a:prstGeom>
        </p:spPr>
        <p:txBody>
          <a:bodyPr/>
          <a:lstStyle>
            <a:lvl1pPr defTabSz="2438338">
              <a:lnSpc>
                <a:spcPct val="90000"/>
              </a:lnSpc>
              <a:defRPr spc="-348" sz="11600">
                <a:gradFill flip="none" rotWithShape="1">
                  <a:gsLst>
                    <a:gs pos="0">
                      <a:srgbClr val="00E8FF"/>
                    </a:gs>
                    <a:gs pos="100000">
                      <a:srgbClr val="FF00F7"/>
                    </a:gs>
                  </a:gsLst>
                  <a:lin ang="3967761" scaled="0"/>
                </a:gradFill>
              </a:defRPr>
            </a:lvl1pPr>
          </a:lstStyle>
          <a:p>
            <a:pPr/>
            <a:r>
              <a:t>Presentation Title</a:t>
            </a:r>
          </a:p>
        </p:txBody>
      </p:sp>
      <p:sp>
        <p:nvSpPr>
          <p:cNvPr id="12" name="Author and Date"/>
          <p:cNvSpPr txBox="1"/>
          <p:nvPr>
            <p:ph type="body" sz="quarter" idx="21" hasCustomPrompt="1"/>
          </p:nvPr>
        </p:nvSpPr>
        <p:spPr>
          <a:xfrm>
            <a:off x="1270000" y="12160429"/>
            <a:ext cx="21844000" cy="694056"/>
          </a:xfrm>
          <a:prstGeom prst="rect">
            <a:avLst/>
          </a:prstGeom>
        </p:spPr>
        <p:txBody>
          <a:bodyPr/>
          <a:lstStyle>
            <a:lvl1pPr marL="0" indent="0" algn="ctr" defTabSz="825500">
              <a:spcBef>
                <a:spcPts val="0"/>
              </a:spcBef>
              <a:buClrTx/>
              <a:buSzTx/>
              <a:buNone/>
              <a:defRPr sz="3500">
                <a:solidFill>
                  <a:srgbClr val="D5D5D5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pPr/>
            <a:r>
              <a:t>Author and Date</a:t>
            </a:r>
          </a:p>
        </p:txBody>
      </p:sp>
      <p:sp>
        <p:nvSpPr>
          <p:cNvPr id="13" name="Body Level One…"/>
          <p:cNvSpPr txBox="1"/>
          <p:nvPr>
            <p:ph type="body" sz="quarter" idx="1" hasCustomPrompt="1"/>
          </p:nvPr>
        </p:nvSpPr>
        <p:spPr>
          <a:xfrm>
            <a:off x="1270000" y="6985000"/>
            <a:ext cx="21844000" cy="2512352"/>
          </a:xfrm>
          <a:prstGeom prst="rect">
            <a:avLst/>
          </a:prstGeom>
        </p:spPr>
        <p:txBody>
          <a:bodyPr/>
          <a:lstStyle>
            <a:lvl1pPr marL="0" indent="0" algn="ctr" defTabSz="825500">
              <a:spcBef>
                <a:spcPts val="0"/>
              </a:spcBef>
              <a:buClrTx/>
              <a:buSzTx/>
              <a:buNone/>
              <a:defRPr sz="6400">
                <a:solidFill>
                  <a:srgbClr val="D5D5D5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lvl1pPr>
            <a:lvl2pPr marL="0" indent="0" algn="ctr" defTabSz="825500">
              <a:spcBef>
                <a:spcPts val="0"/>
              </a:spcBef>
              <a:buClrTx/>
              <a:buSzTx/>
              <a:buNone/>
              <a:defRPr sz="6400">
                <a:solidFill>
                  <a:srgbClr val="D5D5D5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lvl2pPr>
            <a:lvl3pPr marL="0" indent="0" algn="ctr" defTabSz="825500">
              <a:spcBef>
                <a:spcPts val="0"/>
              </a:spcBef>
              <a:buClrTx/>
              <a:buSzTx/>
              <a:buNone/>
              <a:defRPr sz="6400">
                <a:solidFill>
                  <a:srgbClr val="D5D5D5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lvl3pPr>
            <a:lvl4pPr marL="0" indent="0" algn="ctr" defTabSz="825500">
              <a:spcBef>
                <a:spcPts val="0"/>
              </a:spcBef>
              <a:buClrTx/>
              <a:buSzTx/>
              <a:buNone/>
              <a:defRPr sz="6400">
                <a:solidFill>
                  <a:srgbClr val="D5D5D5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lvl4pPr>
            <a:lvl5pPr marL="0" indent="0" algn="ctr" defTabSz="825500">
              <a:spcBef>
                <a:spcPts val="0"/>
              </a:spcBef>
              <a:buClrTx/>
              <a:buSzTx/>
              <a:buNone/>
              <a:defRPr sz="6400">
                <a:solidFill>
                  <a:srgbClr val="D5D5D5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Northern Lights display in a dark night sky over mountains"/>
          <p:cNvSpPr/>
          <p:nvPr>
            <p:ph type="pic" idx="21"/>
          </p:nvPr>
        </p:nvSpPr>
        <p:spPr>
          <a:xfrm>
            <a:off x="0" y="-762000"/>
            <a:ext cx="24384000" cy="15240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Author and Date"/>
          <p:cNvSpPr txBox="1"/>
          <p:nvPr>
            <p:ph type="body" sz="quarter" idx="22" hasCustomPrompt="1"/>
          </p:nvPr>
        </p:nvSpPr>
        <p:spPr>
          <a:xfrm>
            <a:off x="1270000" y="12166600"/>
            <a:ext cx="21844000" cy="694055"/>
          </a:xfrm>
          <a:prstGeom prst="rect">
            <a:avLst/>
          </a:prstGeom>
        </p:spPr>
        <p:txBody>
          <a:bodyPr/>
          <a:lstStyle>
            <a:lvl1pPr marL="0" indent="0" algn="ctr" defTabSz="825500">
              <a:spcBef>
                <a:spcPts val="0"/>
              </a:spcBef>
              <a:buClrTx/>
              <a:buSzTx/>
              <a:buNone/>
              <a:defRPr sz="3500">
                <a:solidFill>
                  <a:srgbClr val="D5D5D5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pPr/>
            <a:r>
              <a:t>Author and Date</a:t>
            </a:r>
          </a:p>
        </p:txBody>
      </p:sp>
      <p:sp>
        <p:nvSpPr>
          <p:cNvPr id="23" name="Presentation Title"/>
          <p:cNvSpPr txBox="1"/>
          <p:nvPr>
            <p:ph type="title" hasCustomPrompt="1"/>
          </p:nvPr>
        </p:nvSpPr>
        <p:spPr>
          <a:xfrm>
            <a:off x="1270000" y="3289300"/>
            <a:ext cx="21844000" cy="3873500"/>
          </a:xfrm>
          <a:prstGeom prst="rect">
            <a:avLst/>
          </a:prstGeom>
        </p:spPr>
        <p:txBody>
          <a:bodyPr/>
          <a:lstStyle>
            <a:lvl1pPr defTabSz="2438400">
              <a:lnSpc>
                <a:spcPct val="90000"/>
              </a:lnSpc>
              <a:defRPr spc="-471" sz="15700">
                <a:latin typeface="+mj-lt"/>
                <a:ea typeface="+mj-ea"/>
                <a:cs typeface="+mj-cs"/>
                <a:sym typeface="Graphik"/>
              </a:defRPr>
            </a:lvl1pPr>
          </a:lstStyle>
          <a:p>
            <a:pPr/>
            <a:r>
              <a:t>Presentation Title</a:t>
            </a:r>
          </a:p>
        </p:txBody>
      </p:sp>
      <p:sp>
        <p:nvSpPr>
          <p:cNvPr id="24" name="Body Level One…"/>
          <p:cNvSpPr txBox="1"/>
          <p:nvPr>
            <p:ph type="body" sz="quarter" idx="1" hasCustomPrompt="1"/>
          </p:nvPr>
        </p:nvSpPr>
        <p:spPr>
          <a:xfrm>
            <a:off x="1270000" y="6985000"/>
            <a:ext cx="21844000" cy="2514600"/>
          </a:xfrm>
          <a:prstGeom prst="rect">
            <a:avLst/>
          </a:prstGeom>
        </p:spPr>
        <p:txBody>
          <a:bodyPr/>
          <a:lstStyle>
            <a:lvl1pPr marL="0" indent="0" algn="ctr" defTabSz="825500">
              <a:spcBef>
                <a:spcPts val="0"/>
              </a:spcBef>
              <a:buClrTx/>
              <a:buSzTx/>
              <a:buNone/>
              <a:defRPr sz="6400">
                <a:solidFill>
                  <a:srgbClr val="D5D5D5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lvl1pPr>
            <a:lvl2pPr marL="0" indent="0" algn="ctr" defTabSz="825500">
              <a:spcBef>
                <a:spcPts val="0"/>
              </a:spcBef>
              <a:buClrTx/>
              <a:buSzTx/>
              <a:buNone/>
              <a:defRPr sz="6400">
                <a:solidFill>
                  <a:srgbClr val="D5D5D5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lvl2pPr>
            <a:lvl3pPr marL="0" indent="0" algn="ctr" defTabSz="825500">
              <a:spcBef>
                <a:spcPts val="0"/>
              </a:spcBef>
              <a:buClrTx/>
              <a:buSzTx/>
              <a:buNone/>
              <a:defRPr sz="6400">
                <a:solidFill>
                  <a:srgbClr val="D5D5D5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lvl3pPr>
            <a:lvl4pPr marL="0" indent="0" algn="ctr" defTabSz="825500">
              <a:spcBef>
                <a:spcPts val="0"/>
              </a:spcBef>
              <a:buClrTx/>
              <a:buSzTx/>
              <a:buNone/>
              <a:defRPr sz="6400">
                <a:solidFill>
                  <a:srgbClr val="D5D5D5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lvl4pPr>
            <a:lvl5pPr marL="0" indent="0" algn="ctr" defTabSz="825500">
              <a:spcBef>
                <a:spcPts val="0"/>
              </a:spcBef>
              <a:buClrTx/>
              <a:buSzTx/>
              <a:buNone/>
              <a:defRPr sz="6400">
                <a:solidFill>
                  <a:srgbClr val="D5D5D5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Colorful clouds against a starry night sky"/>
          <p:cNvSpPr/>
          <p:nvPr>
            <p:ph type="pic" idx="21"/>
          </p:nvPr>
        </p:nvSpPr>
        <p:spPr>
          <a:xfrm>
            <a:off x="7962900" y="-25400"/>
            <a:ext cx="20650200" cy="13766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Slide Title"/>
          <p:cNvSpPr txBox="1"/>
          <p:nvPr>
            <p:ph type="title" hasCustomPrompt="1"/>
          </p:nvPr>
        </p:nvSpPr>
        <p:spPr>
          <a:xfrm>
            <a:off x="1270000" y="3886200"/>
            <a:ext cx="9652000" cy="3200202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1270000" y="6845300"/>
            <a:ext cx="9652000" cy="5664200"/>
          </a:xfrm>
          <a:prstGeom prst="rect">
            <a:avLst/>
          </a:prstGeom>
        </p:spPr>
        <p:txBody>
          <a:bodyPr/>
          <a:lstStyle>
            <a:lvl1pPr marL="0" indent="0" algn="ctr" defTabSz="825500">
              <a:spcBef>
                <a:spcPts val="0"/>
              </a:spcBef>
              <a:buClrTx/>
              <a:buSzTx/>
              <a:buNone/>
              <a:defRPr sz="5400">
                <a:solidFill>
                  <a:srgbClr val="D5D5D5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lvl1pPr>
            <a:lvl2pPr marL="0" indent="457200" algn="ctr" defTabSz="825500">
              <a:spcBef>
                <a:spcPts val="0"/>
              </a:spcBef>
              <a:buClrTx/>
              <a:buSzTx/>
              <a:buNone/>
              <a:defRPr sz="5400">
                <a:solidFill>
                  <a:srgbClr val="D5D5D5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lvl2pPr>
            <a:lvl3pPr marL="0" indent="914400" algn="ctr" defTabSz="825500">
              <a:spcBef>
                <a:spcPts val="0"/>
              </a:spcBef>
              <a:buClrTx/>
              <a:buSzTx/>
              <a:buNone/>
              <a:defRPr sz="5400">
                <a:solidFill>
                  <a:srgbClr val="D5D5D5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lvl3pPr>
            <a:lvl4pPr marL="0" indent="1371600" algn="ctr" defTabSz="825500">
              <a:spcBef>
                <a:spcPts val="0"/>
              </a:spcBef>
              <a:buClrTx/>
              <a:buSzTx/>
              <a:buNone/>
              <a:defRPr sz="5400">
                <a:solidFill>
                  <a:srgbClr val="D5D5D5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lvl4pPr>
            <a:lvl5pPr marL="0" indent="1828800" algn="ctr" defTabSz="825500">
              <a:spcBef>
                <a:spcPts val="0"/>
              </a:spcBef>
              <a:buClrTx/>
              <a:buSzTx/>
              <a:buNone/>
              <a:defRPr sz="5400">
                <a:solidFill>
                  <a:srgbClr val="D5D5D5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3" name="Slide Subtitle"/>
          <p:cNvSpPr txBox="1"/>
          <p:nvPr>
            <p:ph type="body" sz="quarter" idx="21" hasCustomPrompt="1"/>
          </p:nvPr>
        </p:nvSpPr>
        <p:spPr>
          <a:xfrm>
            <a:off x="1270000" y="2133600"/>
            <a:ext cx="21844000" cy="1016000"/>
          </a:xfrm>
          <a:prstGeom prst="rect">
            <a:avLst/>
          </a:prstGeom>
        </p:spPr>
        <p:txBody>
          <a:bodyPr/>
          <a:lstStyle>
            <a:lvl1pPr marL="0" indent="0" algn="ctr" defTabSz="825500">
              <a:spcBef>
                <a:spcPts val="0"/>
              </a:spcBef>
              <a:buClrTx/>
              <a:buSzTx/>
              <a:buNone/>
              <a:defRPr sz="5400">
                <a:solidFill>
                  <a:srgbClr val="D5D5D5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44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xfrm>
            <a:off x="1270000" y="4269316"/>
            <a:ext cx="21844000" cy="8432801"/>
          </a:xfrm>
          <a:prstGeom prst="rect">
            <a:avLst/>
          </a:prstGeom>
        </p:spPr>
        <p:txBody>
          <a:bodyPr numCol="2" spcCol="1092200"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Northern Lights display over a snowy mountain landscape"/>
          <p:cNvSpPr/>
          <p:nvPr>
            <p:ph type="pic" idx="21"/>
          </p:nvPr>
        </p:nvSpPr>
        <p:spPr>
          <a:xfrm>
            <a:off x="12204700" y="-2277533"/>
            <a:ext cx="12192000" cy="18271067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1" name="Slide Title"/>
          <p:cNvSpPr txBox="1"/>
          <p:nvPr>
            <p:ph type="title" hasCustomPrompt="1"/>
          </p:nvPr>
        </p:nvSpPr>
        <p:spPr>
          <a:xfrm>
            <a:off x="1270000" y="838200"/>
            <a:ext cx="9652000" cy="15494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2" name="Body Level One…"/>
          <p:cNvSpPr txBox="1"/>
          <p:nvPr>
            <p:ph type="body" sz="half" idx="1" hasCustomPrompt="1"/>
          </p:nvPr>
        </p:nvSpPr>
        <p:spPr>
          <a:xfrm>
            <a:off x="1270000" y="4267200"/>
            <a:ext cx="9652000" cy="843280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3" name="Slide Subtitle"/>
          <p:cNvSpPr txBox="1"/>
          <p:nvPr>
            <p:ph type="body" sz="quarter" idx="22" hasCustomPrompt="1"/>
          </p:nvPr>
        </p:nvSpPr>
        <p:spPr>
          <a:xfrm>
            <a:off x="1270000" y="2133600"/>
            <a:ext cx="9652000" cy="1016000"/>
          </a:xfrm>
          <a:prstGeom prst="rect">
            <a:avLst/>
          </a:prstGeom>
        </p:spPr>
        <p:txBody>
          <a:bodyPr/>
          <a:lstStyle>
            <a:lvl1pPr marL="0" indent="0" algn="ctr" defTabSz="825500">
              <a:spcBef>
                <a:spcPts val="0"/>
              </a:spcBef>
              <a:buClrTx/>
              <a:buSzTx/>
              <a:buNone/>
              <a:defRPr sz="5400">
                <a:solidFill>
                  <a:srgbClr val="D5D5D5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lide Title"/>
          <p:cNvSpPr txBox="1"/>
          <p:nvPr>
            <p:ph type="title" hasCustomPrompt="1"/>
          </p:nvPr>
        </p:nvSpPr>
        <p:spPr>
          <a:xfrm>
            <a:off x="1270000" y="838200"/>
            <a:ext cx="9652000" cy="15494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72" name="Body Level One…"/>
          <p:cNvSpPr txBox="1"/>
          <p:nvPr>
            <p:ph type="body" sz="half" idx="1" hasCustomPrompt="1"/>
          </p:nvPr>
        </p:nvSpPr>
        <p:spPr>
          <a:xfrm>
            <a:off x="1270000" y="4267200"/>
            <a:ext cx="9652000" cy="843280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3" name="Slide Subtitle"/>
          <p:cNvSpPr txBox="1"/>
          <p:nvPr>
            <p:ph type="body" sz="quarter" idx="21" hasCustomPrompt="1"/>
          </p:nvPr>
        </p:nvSpPr>
        <p:spPr>
          <a:xfrm>
            <a:off x="1270000" y="2133600"/>
            <a:ext cx="9652000" cy="1016000"/>
          </a:xfrm>
          <a:prstGeom prst="rect">
            <a:avLst/>
          </a:prstGeom>
        </p:spPr>
        <p:txBody>
          <a:bodyPr/>
          <a:lstStyle>
            <a:lvl1pPr marL="0" indent="0" algn="ctr" defTabSz="825500">
              <a:spcBef>
                <a:spcPts val="0"/>
              </a:spcBef>
              <a:buClrTx/>
              <a:buSzTx/>
              <a:buNone/>
              <a:defRPr sz="5400">
                <a:solidFill>
                  <a:srgbClr val="D5D5D5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7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lide Title"/>
          <p:cNvSpPr txBox="1"/>
          <p:nvPr>
            <p:ph type="title" hasCustomPrompt="1"/>
          </p:nvPr>
        </p:nvSpPr>
        <p:spPr>
          <a:xfrm>
            <a:off x="1270000" y="838200"/>
            <a:ext cx="9652000" cy="15494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2" name="Body Level One…"/>
          <p:cNvSpPr txBox="1"/>
          <p:nvPr>
            <p:ph type="body" sz="half" idx="1" hasCustomPrompt="1"/>
          </p:nvPr>
        </p:nvSpPr>
        <p:spPr>
          <a:xfrm>
            <a:off x="1270000" y="4267200"/>
            <a:ext cx="9652000" cy="843280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3" name="Slide Subtitle"/>
          <p:cNvSpPr txBox="1"/>
          <p:nvPr>
            <p:ph type="body" sz="quarter" idx="21" hasCustomPrompt="1"/>
          </p:nvPr>
        </p:nvSpPr>
        <p:spPr>
          <a:xfrm>
            <a:off x="1270000" y="2133600"/>
            <a:ext cx="9652000" cy="1016000"/>
          </a:xfrm>
          <a:prstGeom prst="rect">
            <a:avLst/>
          </a:prstGeom>
        </p:spPr>
        <p:txBody>
          <a:bodyPr/>
          <a:lstStyle>
            <a:lvl1pPr marL="0" indent="0" algn="ctr" defTabSz="825500">
              <a:spcBef>
                <a:spcPts val="0"/>
              </a:spcBef>
              <a:buClrTx/>
              <a:buSzTx/>
              <a:buNone/>
              <a:defRPr sz="5400">
                <a:solidFill>
                  <a:srgbClr val="D5D5D5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8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ection Title"/>
          <p:cNvSpPr txBox="1"/>
          <p:nvPr>
            <p:ph type="title" hasCustomPrompt="1"/>
          </p:nvPr>
        </p:nvSpPr>
        <p:spPr>
          <a:xfrm>
            <a:off x="1270000" y="3289300"/>
            <a:ext cx="21844000" cy="3873500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pc="-348" sz="11600">
                <a:gradFill flip="none" rotWithShape="1">
                  <a:gsLst>
                    <a:gs pos="0">
                      <a:srgbClr val="00FF00"/>
                    </a:gs>
                    <a:gs pos="100000">
                      <a:srgbClr val="007DFF"/>
                    </a:gs>
                  </a:gsLst>
                  <a:lin ang="3965999" scaled="0"/>
                </a:gradFill>
              </a:defRPr>
            </a:lvl1pPr>
          </a:lstStyle>
          <a:p>
            <a:pPr/>
            <a:r>
              <a:t>Section Title</a:t>
            </a:r>
          </a:p>
        </p:txBody>
      </p:sp>
      <p:sp>
        <p:nvSpPr>
          <p:cNvPr id="9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100" name="Slide Subtitle"/>
          <p:cNvSpPr txBox="1"/>
          <p:nvPr>
            <p:ph type="body" sz="quarter" idx="21" hasCustomPrompt="1"/>
          </p:nvPr>
        </p:nvSpPr>
        <p:spPr>
          <a:xfrm>
            <a:off x="1270000" y="2133600"/>
            <a:ext cx="21844000" cy="1016000"/>
          </a:xfrm>
          <a:prstGeom prst="rect">
            <a:avLst/>
          </a:prstGeom>
        </p:spPr>
        <p:txBody>
          <a:bodyPr/>
          <a:lstStyle>
            <a:lvl1pPr marL="0" indent="0" algn="ctr" defTabSz="825500">
              <a:spcBef>
                <a:spcPts val="0"/>
              </a:spcBef>
              <a:buClrTx/>
              <a:buSzTx/>
              <a:buNone/>
              <a:defRPr sz="5400">
                <a:solidFill>
                  <a:srgbClr val="D5D5D5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10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Agenda Title"/>
          <p:cNvSpPr txBox="1"/>
          <p:nvPr>
            <p:ph type="title" hasCustomPrompt="1"/>
          </p:nvPr>
        </p:nvSpPr>
        <p:spPr>
          <a:xfrm>
            <a:off x="1270000" y="812800"/>
            <a:ext cx="21844000" cy="1562100"/>
          </a:xfrm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109" name="Agenda Subtitle"/>
          <p:cNvSpPr txBox="1"/>
          <p:nvPr>
            <p:ph type="body" sz="quarter" idx="21" hasCustomPrompt="1"/>
          </p:nvPr>
        </p:nvSpPr>
        <p:spPr>
          <a:xfrm>
            <a:off x="1270000" y="2133600"/>
            <a:ext cx="21844000" cy="1016000"/>
          </a:xfrm>
          <a:prstGeom prst="rect">
            <a:avLst/>
          </a:prstGeom>
        </p:spPr>
        <p:txBody>
          <a:bodyPr/>
          <a:lstStyle>
            <a:lvl1pPr marL="0" indent="0" algn="ctr" defTabSz="825500">
              <a:spcBef>
                <a:spcPts val="0"/>
              </a:spcBef>
              <a:buClrTx/>
              <a:buSzTx/>
              <a:buNone/>
              <a:defRPr sz="5400">
                <a:solidFill>
                  <a:srgbClr val="D5D5D5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pPr/>
            <a:r>
              <a:t>Agenda Subtitle</a:t>
            </a:r>
          </a:p>
        </p:txBody>
      </p:sp>
      <p:sp>
        <p:nvSpPr>
          <p:cNvPr id="110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buClrTx/>
              <a:buSzTx/>
              <a:buNone/>
              <a:defRPr spc="-55" sz="5500"/>
            </a:lvl1pPr>
            <a:lvl2pPr marL="0" indent="457200" defTabSz="825500">
              <a:buClrTx/>
              <a:buSzTx/>
              <a:buNone/>
              <a:defRPr spc="-55" sz="5500"/>
            </a:lvl2pPr>
            <a:lvl3pPr marL="0" indent="914400" defTabSz="825500">
              <a:buClrTx/>
              <a:buSzTx/>
              <a:buNone/>
              <a:defRPr spc="-55" sz="5500"/>
            </a:lvl3pPr>
            <a:lvl4pPr marL="0" indent="1371600" defTabSz="825500">
              <a:buClrTx/>
              <a:buSzTx/>
              <a:buNone/>
              <a:defRPr spc="-55" sz="5500"/>
            </a:lvl4pPr>
            <a:lvl5pPr marL="0" indent="1828800" defTabSz="825500">
              <a:buClrTx/>
              <a:buSzTx/>
              <a:buNone/>
              <a:defRPr spc="-55" sz="5500"/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/>
          <p:nvPr>
            <p:ph type="body" sz="half" idx="1" hasCustomPrompt="1"/>
          </p:nvPr>
        </p:nvSpPr>
        <p:spPr>
          <a:xfrm>
            <a:off x="1270000" y="4546600"/>
            <a:ext cx="21844000" cy="4678065"/>
          </a:xfrm>
          <a:prstGeom prst="rect">
            <a:avLst/>
          </a:prstGeom>
        </p:spPr>
        <p:txBody>
          <a:bodyPr anchor="ctr"/>
          <a:lstStyle>
            <a:lvl1pPr marL="0" indent="0" algn="ctr">
              <a:spcBef>
                <a:spcPts val="0"/>
              </a:spcBef>
              <a:buClrTx/>
              <a:buSzTx/>
              <a:buNone/>
              <a:defRPr spc="-252" sz="8400">
                <a:gradFill flip="none" rotWithShape="1">
                  <a:gsLst>
                    <a:gs pos="0">
                      <a:srgbClr val="FFFFFF"/>
                    </a:gs>
                    <a:gs pos="100000">
                      <a:srgbClr val="929292"/>
                    </a:gs>
                  </a:gsLst>
                  <a:lin ang="5400000" scaled="0"/>
                </a:gradFill>
                <a:latin typeface="Graphik Medium"/>
                <a:ea typeface="Graphik Medium"/>
                <a:cs typeface="Graphik Medium"/>
                <a:sym typeface="Graphik Medium"/>
              </a:defRPr>
            </a:lvl1pPr>
            <a:lvl2pPr marL="0" indent="457200" algn="ctr">
              <a:spcBef>
                <a:spcPts val="0"/>
              </a:spcBef>
              <a:buClrTx/>
              <a:buSzTx/>
              <a:buNone/>
              <a:defRPr spc="-252" sz="8400">
                <a:gradFill flip="none" rotWithShape="1">
                  <a:gsLst>
                    <a:gs pos="0">
                      <a:srgbClr val="FFFFFF"/>
                    </a:gs>
                    <a:gs pos="100000">
                      <a:srgbClr val="929292"/>
                    </a:gs>
                  </a:gsLst>
                  <a:lin ang="5400000" scaled="0"/>
                </a:gradFill>
                <a:latin typeface="Graphik Medium"/>
                <a:ea typeface="Graphik Medium"/>
                <a:cs typeface="Graphik Medium"/>
                <a:sym typeface="Graphik Medium"/>
              </a:defRPr>
            </a:lvl2pPr>
            <a:lvl3pPr marL="0" indent="914400" algn="ctr">
              <a:spcBef>
                <a:spcPts val="0"/>
              </a:spcBef>
              <a:buClrTx/>
              <a:buSzTx/>
              <a:buNone/>
              <a:defRPr spc="-252" sz="8400">
                <a:gradFill flip="none" rotWithShape="1">
                  <a:gsLst>
                    <a:gs pos="0">
                      <a:srgbClr val="FFFFFF"/>
                    </a:gs>
                    <a:gs pos="100000">
                      <a:srgbClr val="929292"/>
                    </a:gs>
                  </a:gsLst>
                  <a:lin ang="5400000" scaled="0"/>
                </a:gradFill>
                <a:latin typeface="Graphik Medium"/>
                <a:ea typeface="Graphik Medium"/>
                <a:cs typeface="Graphik Medium"/>
                <a:sym typeface="Graphik Medium"/>
              </a:defRPr>
            </a:lvl3pPr>
            <a:lvl4pPr marL="0" indent="1371600" algn="ctr">
              <a:spcBef>
                <a:spcPts val="0"/>
              </a:spcBef>
              <a:buClrTx/>
              <a:buSzTx/>
              <a:buNone/>
              <a:defRPr spc="-252" sz="8400">
                <a:gradFill flip="none" rotWithShape="1">
                  <a:gsLst>
                    <a:gs pos="0">
                      <a:srgbClr val="FFFFFF"/>
                    </a:gs>
                    <a:gs pos="100000">
                      <a:srgbClr val="929292"/>
                    </a:gs>
                  </a:gsLst>
                  <a:lin ang="5400000" scaled="0"/>
                </a:gradFill>
                <a:latin typeface="Graphik Medium"/>
                <a:ea typeface="Graphik Medium"/>
                <a:cs typeface="Graphik Medium"/>
                <a:sym typeface="Graphik Medium"/>
              </a:defRPr>
            </a:lvl4pPr>
            <a:lvl5pPr marL="0" indent="1828800" algn="ctr">
              <a:spcBef>
                <a:spcPts val="0"/>
              </a:spcBef>
              <a:buClrTx/>
              <a:buSzTx/>
              <a:buNone/>
              <a:defRPr spc="-252" sz="8400">
                <a:gradFill flip="none" rotWithShape="1">
                  <a:gsLst>
                    <a:gs pos="0">
                      <a:srgbClr val="FFFFFF"/>
                    </a:gs>
                    <a:gs pos="100000">
                      <a:srgbClr val="929292"/>
                    </a:gs>
                  </a:gsLst>
                  <a:lin ang="5400000" scaled="0"/>
                </a:gradFill>
                <a:latin typeface="Graphik Medium"/>
                <a:ea typeface="Graphik Medium"/>
                <a:cs typeface="Graphik Medium"/>
                <a:sym typeface="Graphik Medium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Body Level One…"/>
          <p:cNvSpPr txBox="1"/>
          <p:nvPr>
            <p:ph type="body" sz="half" idx="1" hasCustomPrompt="1"/>
          </p:nvPr>
        </p:nvSpPr>
        <p:spPr>
          <a:xfrm>
            <a:off x="1270000" y="3906096"/>
            <a:ext cx="21844000" cy="4488604"/>
          </a:xfrm>
          <a:prstGeom prst="rect">
            <a:avLst/>
          </a:prstGeom>
        </p:spPr>
        <p:txBody>
          <a:bodyPr anchor="b"/>
          <a:lstStyle>
            <a:lvl1pPr marL="0" indent="0" algn="ctr" defTabSz="2438338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spc="-448" sz="22400">
                <a:gradFill flip="none" rotWithShape="1">
                  <a:gsLst>
                    <a:gs pos="0">
                      <a:srgbClr val="00E8FF"/>
                    </a:gs>
                    <a:gs pos="100000">
                      <a:srgbClr val="FF00F7"/>
                    </a:gs>
                  </a:gsLst>
                  <a:lin ang="3967761" scaled="0"/>
                </a:gradFill>
                <a:latin typeface="+mn-lt"/>
                <a:ea typeface="+mn-ea"/>
                <a:cs typeface="+mn-cs"/>
                <a:sym typeface="Graphik Semibold"/>
              </a:defRPr>
            </a:lvl1pPr>
            <a:lvl2pPr marL="0" indent="457200" algn="ctr" defTabSz="2438338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spc="-448" sz="22400">
                <a:gradFill flip="none" rotWithShape="1">
                  <a:gsLst>
                    <a:gs pos="0">
                      <a:srgbClr val="00E8FF"/>
                    </a:gs>
                    <a:gs pos="100000">
                      <a:srgbClr val="FF00F7"/>
                    </a:gs>
                  </a:gsLst>
                  <a:lin ang="3967761" scaled="0"/>
                </a:gradFill>
                <a:latin typeface="+mn-lt"/>
                <a:ea typeface="+mn-ea"/>
                <a:cs typeface="+mn-cs"/>
                <a:sym typeface="Graphik Semibold"/>
              </a:defRPr>
            </a:lvl2pPr>
            <a:lvl3pPr marL="0" indent="914400" algn="ctr" defTabSz="2438338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spc="-448" sz="22400">
                <a:gradFill flip="none" rotWithShape="1">
                  <a:gsLst>
                    <a:gs pos="0">
                      <a:srgbClr val="00E8FF"/>
                    </a:gs>
                    <a:gs pos="100000">
                      <a:srgbClr val="FF00F7"/>
                    </a:gs>
                  </a:gsLst>
                  <a:lin ang="3967761" scaled="0"/>
                </a:gradFill>
                <a:latin typeface="+mn-lt"/>
                <a:ea typeface="+mn-ea"/>
                <a:cs typeface="+mn-cs"/>
                <a:sym typeface="Graphik Semibold"/>
              </a:defRPr>
            </a:lvl3pPr>
            <a:lvl4pPr marL="0" indent="1371600" algn="ctr" defTabSz="2438338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spc="-448" sz="22400">
                <a:gradFill flip="none" rotWithShape="1">
                  <a:gsLst>
                    <a:gs pos="0">
                      <a:srgbClr val="00E8FF"/>
                    </a:gs>
                    <a:gs pos="100000">
                      <a:srgbClr val="FF00F7"/>
                    </a:gs>
                  </a:gsLst>
                  <a:lin ang="3967761" scaled="0"/>
                </a:gradFill>
                <a:latin typeface="+mn-lt"/>
                <a:ea typeface="+mn-ea"/>
                <a:cs typeface="+mn-cs"/>
                <a:sym typeface="Graphik Semibold"/>
              </a:defRPr>
            </a:lvl4pPr>
            <a:lvl5pPr marL="0" indent="1828800" algn="ctr" defTabSz="2438338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spc="-448" sz="22400">
                <a:gradFill flip="none" rotWithShape="1">
                  <a:gsLst>
                    <a:gs pos="0">
                      <a:srgbClr val="00E8FF"/>
                    </a:gs>
                    <a:gs pos="100000">
                      <a:srgbClr val="FF00F7"/>
                    </a:gs>
                  </a:gsLst>
                  <a:lin ang="3967761" scaled="0"/>
                </a:gradFill>
                <a:latin typeface="+mn-lt"/>
                <a:ea typeface="+mn-ea"/>
                <a:cs typeface="+mn-cs"/>
                <a:sym typeface="Graphik Semibold"/>
              </a:defRPr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Fact information"/>
          <p:cNvSpPr txBox="1"/>
          <p:nvPr>
            <p:ph type="body" sz="quarter" idx="21" hasCustomPrompt="1"/>
          </p:nvPr>
        </p:nvSpPr>
        <p:spPr>
          <a:xfrm>
            <a:off x="1270000" y="8521700"/>
            <a:ext cx="21844000" cy="1016000"/>
          </a:xfrm>
          <a:prstGeom prst="rect">
            <a:avLst/>
          </a:prstGeom>
        </p:spPr>
        <p:txBody>
          <a:bodyPr/>
          <a:lstStyle>
            <a:lvl1pPr marL="0" indent="0" algn="ctr" defTabSz="825500">
              <a:spcBef>
                <a:spcPts val="0"/>
              </a:spcBef>
              <a:buClrTx/>
              <a:buSzTx/>
              <a:buNone/>
              <a:defRPr sz="4400">
                <a:solidFill>
                  <a:srgbClr val="D5D5D5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pPr/>
            <a:r>
              <a:t>Fact information</a:t>
            </a:r>
          </a:p>
        </p:txBody>
      </p:sp>
      <p:sp>
        <p:nvSpPr>
          <p:cNvPr id="12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Attribution"/>
          <p:cNvSpPr txBox="1"/>
          <p:nvPr>
            <p:ph type="body" sz="quarter" idx="21" hasCustomPrompt="1"/>
          </p:nvPr>
        </p:nvSpPr>
        <p:spPr>
          <a:xfrm>
            <a:off x="1270000" y="11155086"/>
            <a:ext cx="21844000" cy="832613"/>
          </a:xfrm>
          <a:prstGeom prst="rect">
            <a:avLst/>
          </a:prstGeom>
        </p:spPr>
        <p:txBody>
          <a:bodyPr anchor="ctr"/>
          <a:lstStyle>
            <a:lvl1pPr marL="0" indent="0" algn="ctr" defTabSz="825500">
              <a:spcBef>
                <a:spcPts val="0"/>
              </a:spcBef>
              <a:buClrTx/>
              <a:buSzTx/>
              <a:buNone/>
              <a:defRPr sz="4400">
                <a:solidFill>
                  <a:srgbClr val="D5D5D5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pPr/>
            <a:r>
              <a:t>Attribution</a:t>
            </a:r>
          </a:p>
        </p:txBody>
      </p:sp>
      <p:sp>
        <p:nvSpPr>
          <p:cNvPr id="136" name="Body Level One…"/>
          <p:cNvSpPr txBox="1"/>
          <p:nvPr>
            <p:ph type="body" sz="half" idx="1" hasCustomPrompt="1"/>
          </p:nvPr>
        </p:nvSpPr>
        <p:spPr>
          <a:xfrm>
            <a:off x="1270000" y="4659369"/>
            <a:ext cx="21844000" cy="4394201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spc="-168" sz="8400">
                <a:gradFill flip="none" rotWithShape="1">
                  <a:gsLst>
                    <a:gs pos="0">
                      <a:srgbClr val="FF00D8"/>
                    </a:gs>
                    <a:gs pos="100000">
                      <a:srgbClr val="FFFD00"/>
                    </a:gs>
                  </a:gsLst>
                  <a:lin ang="2700000" scaled="0"/>
                </a:gradFill>
                <a:latin typeface="+mn-lt"/>
                <a:ea typeface="+mn-ea"/>
                <a:cs typeface="+mn-cs"/>
                <a:sym typeface="Graphik Semibold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spc="-168" sz="8400">
                <a:gradFill flip="none" rotWithShape="1">
                  <a:gsLst>
                    <a:gs pos="0">
                      <a:srgbClr val="FF00D8"/>
                    </a:gs>
                    <a:gs pos="100000">
                      <a:srgbClr val="FFFD00"/>
                    </a:gs>
                  </a:gsLst>
                  <a:lin ang="2700000" scaled="0"/>
                </a:gradFill>
                <a:latin typeface="+mn-lt"/>
                <a:ea typeface="+mn-ea"/>
                <a:cs typeface="+mn-cs"/>
                <a:sym typeface="Graphik Semibold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spc="-168" sz="8400">
                <a:gradFill flip="none" rotWithShape="1">
                  <a:gsLst>
                    <a:gs pos="0">
                      <a:srgbClr val="FF00D8"/>
                    </a:gs>
                    <a:gs pos="100000">
                      <a:srgbClr val="FFFD00"/>
                    </a:gs>
                  </a:gsLst>
                  <a:lin ang="2700000" scaled="0"/>
                </a:gradFill>
                <a:latin typeface="+mn-lt"/>
                <a:ea typeface="+mn-ea"/>
                <a:cs typeface="+mn-cs"/>
                <a:sym typeface="Graphik Semibold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spc="-168" sz="8400">
                <a:gradFill flip="none" rotWithShape="1">
                  <a:gsLst>
                    <a:gs pos="0">
                      <a:srgbClr val="FF00D8"/>
                    </a:gs>
                    <a:gs pos="100000">
                      <a:srgbClr val="FFFD00"/>
                    </a:gs>
                  </a:gsLst>
                  <a:lin ang="2700000" scaled="0"/>
                </a:gradFill>
                <a:latin typeface="+mn-lt"/>
                <a:ea typeface="+mn-ea"/>
                <a:cs typeface="+mn-cs"/>
                <a:sym typeface="Graphik Semibold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spc="-168" sz="8400">
                <a:gradFill flip="none" rotWithShape="1">
                  <a:gsLst>
                    <a:gs pos="0">
                      <a:srgbClr val="FF00D8"/>
                    </a:gs>
                    <a:gs pos="100000">
                      <a:srgbClr val="FFFD00"/>
                    </a:gs>
                  </a:gsLst>
                  <a:lin ang="2700000" scaled="0"/>
                </a:gradFill>
                <a:latin typeface="+mn-lt"/>
                <a:ea typeface="+mn-ea"/>
                <a:cs typeface="+mn-cs"/>
                <a:sym typeface="Graphik Semibold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Northern Lights display over a snowy landscape"/>
          <p:cNvSpPr/>
          <p:nvPr>
            <p:ph type="pic" sz="half" idx="21"/>
          </p:nvPr>
        </p:nvSpPr>
        <p:spPr>
          <a:xfrm>
            <a:off x="12192000" y="6229350"/>
            <a:ext cx="12192000" cy="8128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Colorful clouds against a starry night sky"/>
          <p:cNvSpPr/>
          <p:nvPr>
            <p:ph type="pic" sz="half" idx="22"/>
          </p:nvPr>
        </p:nvSpPr>
        <p:spPr>
          <a:xfrm>
            <a:off x="12192000" y="-641351"/>
            <a:ext cx="12192000" cy="81280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Northern Lights display over a snowy mountain landscape"/>
          <p:cNvSpPr/>
          <p:nvPr>
            <p:ph type="pic" idx="23"/>
          </p:nvPr>
        </p:nvSpPr>
        <p:spPr>
          <a:xfrm>
            <a:off x="-1" y="-2258501"/>
            <a:ext cx="12166601" cy="1823300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Northern Lights display over a snowy landscape"/>
          <p:cNvSpPr/>
          <p:nvPr>
            <p:ph type="pic" idx="21"/>
          </p:nvPr>
        </p:nvSpPr>
        <p:spPr>
          <a:xfrm>
            <a:off x="0" y="-1270000"/>
            <a:ext cx="24384000" cy="1625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gradFill flip="none" rotWithShape="1">
          <a:gsLst>
            <a:gs pos="0">
              <a:srgbClr val="000000"/>
            </a:gs>
            <a:gs pos="100000">
              <a:srgbClr val="3B3B3B"/>
            </a:gs>
          </a:gsLst>
          <a:lin ang="5400000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>
            <p:ph type="title" hasCustomPrompt="1"/>
          </p:nvPr>
        </p:nvSpPr>
        <p:spPr>
          <a:xfrm>
            <a:off x="1270000" y="812800"/>
            <a:ext cx="21844000" cy="15574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b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270000" y="4267200"/>
            <a:ext cx="21844000" cy="8432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1977623" y="13081000"/>
            <a:ext cx="416053" cy="467107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825500">
              <a:spcBef>
                <a:spcPts val="0"/>
              </a:spcBef>
              <a:defRPr sz="2200"/>
            </a:lvl1pPr>
          </a:lstStyle>
          <a:p>
            <a:pPr/>
            <a:fld id="{86CB4B4D-7CA3-9044-876B-883B54F8677D}" type="slidenum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ctr" defTabSz="8255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252" strike="noStrike" sz="8400" u="none">
          <a:gradFill flip="none" rotWithShape="1">
            <a:gsLst>
              <a:gs pos="0">
                <a:srgbClr val="FFFFFF"/>
              </a:gs>
              <a:gs pos="100000">
                <a:srgbClr val="929292"/>
              </a:gs>
            </a:gsLst>
            <a:lin ang="5400000" scaled="0"/>
          </a:gradFill>
          <a:uFillTx/>
          <a:latin typeface="+mn-lt"/>
          <a:ea typeface="+mn-ea"/>
          <a:cs typeface="+mn-cs"/>
          <a:sym typeface="Graphik Semibold"/>
        </a:defRPr>
      </a:lvl1pPr>
      <a:lvl2pPr marL="0" marR="0" indent="457200" algn="ctr" defTabSz="8255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252" strike="noStrike" sz="8400" u="none">
          <a:gradFill flip="none" rotWithShape="1">
            <a:gsLst>
              <a:gs pos="0">
                <a:srgbClr val="FFFFFF"/>
              </a:gs>
              <a:gs pos="100000">
                <a:srgbClr val="929292"/>
              </a:gs>
            </a:gsLst>
            <a:lin ang="5400000" scaled="0"/>
          </a:gradFill>
          <a:uFillTx/>
          <a:latin typeface="+mn-lt"/>
          <a:ea typeface="+mn-ea"/>
          <a:cs typeface="+mn-cs"/>
          <a:sym typeface="Graphik Semibold"/>
        </a:defRPr>
      </a:lvl2pPr>
      <a:lvl3pPr marL="0" marR="0" indent="914400" algn="ctr" defTabSz="8255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252" strike="noStrike" sz="8400" u="none">
          <a:gradFill flip="none" rotWithShape="1">
            <a:gsLst>
              <a:gs pos="0">
                <a:srgbClr val="FFFFFF"/>
              </a:gs>
              <a:gs pos="100000">
                <a:srgbClr val="929292"/>
              </a:gs>
            </a:gsLst>
            <a:lin ang="5400000" scaled="0"/>
          </a:gradFill>
          <a:uFillTx/>
          <a:latin typeface="+mn-lt"/>
          <a:ea typeface="+mn-ea"/>
          <a:cs typeface="+mn-cs"/>
          <a:sym typeface="Graphik Semibold"/>
        </a:defRPr>
      </a:lvl3pPr>
      <a:lvl4pPr marL="0" marR="0" indent="1371600" algn="ctr" defTabSz="8255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252" strike="noStrike" sz="8400" u="none">
          <a:gradFill flip="none" rotWithShape="1">
            <a:gsLst>
              <a:gs pos="0">
                <a:srgbClr val="FFFFFF"/>
              </a:gs>
              <a:gs pos="100000">
                <a:srgbClr val="929292"/>
              </a:gs>
            </a:gsLst>
            <a:lin ang="5400000" scaled="0"/>
          </a:gradFill>
          <a:uFillTx/>
          <a:latin typeface="+mn-lt"/>
          <a:ea typeface="+mn-ea"/>
          <a:cs typeface="+mn-cs"/>
          <a:sym typeface="Graphik Semibold"/>
        </a:defRPr>
      </a:lvl4pPr>
      <a:lvl5pPr marL="0" marR="0" indent="1828800" algn="ctr" defTabSz="8255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252" strike="noStrike" sz="8400" u="none">
          <a:gradFill flip="none" rotWithShape="1">
            <a:gsLst>
              <a:gs pos="0">
                <a:srgbClr val="FFFFFF"/>
              </a:gs>
              <a:gs pos="100000">
                <a:srgbClr val="929292"/>
              </a:gs>
            </a:gsLst>
            <a:lin ang="5400000" scaled="0"/>
          </a:gradFill>
          <a:uFillTx/>
          <a:latin typeface="+mn-lt"/>
          <a:ea typeface="+mn-ea"/>
          <a:cs typeface="+mn-cs"/>
          <a:sym typeface="Graphik Semibold"/>
        </a:defRPr>
      </a:lvl5pPr>
      <a:lvl6pPr marL="0" marR="0" indent="2286000" algn="ctr" defTabSz="8255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252" strike="noStrike" sz="8400" u="none">
          <a:gradFill flip="none" rotWithShape="1">
            <a:gsLst>
              <a:gs pos="0">
                <a:srgbClr val="FFFFFF"/>
              </a:gs>
              <a:gs pos="100000">
                <a:srgbClr val="929292"/>
              </a:gs>
            </a:gsLst>
            <a:lin ang="5400000" scaled="0"/>
          </a:gradFill>
          <a:uFillTx/>
          <a:latin typeface="+mn-lt"/>
          <a:ea typeface="+mn-ea"/>
          <a:cs typeface="+mn-cs"/>
          <a:sym typeface="Graphik Semibold"/>
        </a:defRPr>
      </a:lvl6pPr>
      <a:lvl7pPr marL="0" marR="0" indent="2743200" algn="ctr" defTabSz="8255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252" strike="noStrike" sz="8400" u="none">
          <a:gradFill flip="none" rotWithShape="1">
            <a:gsLst>
              <a:gs pos="0">
                <a:srgbClr val="FFFFFF"/>
              </a:gs>
              <a:gs pos="100000">
                <a:srgbClr val="929292"/>
              </a:gs>
            </a:gsLst>
            <a:lin ang="5400000" scaled="0"/>
          </a:gradFill>
          <a:uFillTx/>
          <a:latin typeface="+mn-lt"/>
          <a:ea typeface="+mn-ea"/>
          <a:cs typeface="+mn-cs"/>
          <a:sym typeface="Graphik Semibold"/>
        </a:defRPr>
      </a:lvl7pPr>
      <a:lvl8pPr marL="0" marR="0" indent="3200400" algn="ctr" defTabSz="8255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252" strike="noStrike" sz="8400" u="none">
          <a:gradFill flip="none" rotWithShape="1">
            <a:gsLst>
              <a:gs pos="0">
                <a:srgbClr val="FFFFFF"/>
              </a:gs>
              <a:gs pos="100000">
                <a:srgbClr val="929292"/>
              </a:gs>
            </a:gsLst>
            <a:lin ang="5400000" scaled="0"/>
          </a:gradFill>
          <a:uFillTx/>
          <a:latin typeface="+mn-lt"/>
          <a:ea typeface="+mn-ea"/>
          <a:cs typeface="+mn-cs"/>
          <a:sym typeface="Graphik Semibold"/>
        </a:defRPr>
      </a:lvl8pPr>
      <a:lvl9pPr marL="0" marR="0" indent="3657600" algn="ctr" defTabSz="8255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252" strike="noStrike" sz="8400" u="none">
          <a:gradFill flip="none" rotWithShape="1">
            <a:gsLst>
              <a:gs pos="0">
                <a:srgbClr val="FFFFFF"/>
              </a:gs>
              <a:gs pos="100000">
                <a:srgbClr val="929292"/>
              </a:gs>
            </a:gsLst>
            <a:lin ang="5400000" scaled="0"/>
          </a:gradFill>
          <a:uFillTx/>
          <a:latin typeface="+mn-lt"/>
          <a:ea typeface="+mn-ea"/>
          <a:cs typeface="+mn-cs"/>
          <a:sym typeface="Graphik Semibold"/>
        </a:defRPr>
      </a:lvl9pPr>
    </p:titleStyle>
    <p:bodyStyle>
      <a:lvl1pPr marL="558800" marR="0" indent="-558800" algn="l" defTabSz="2438400" rtl="0" latinLnBrk="0">
        <a:lnSpc>
          <a:spcPct val="100000"/>
        </a:lnSpc>
        <a:spcBef>
          <a:spcPts val="2400"/>
        </a:spcBef>
        <a:spcAft>
          <a:spcPts val="0"/>
        </a:spcAft>
        <a:buClr>
          <a:srgbClr val="FFFFFF"/>
        </a:buClr>
        <a:buSzPct val="100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+mj-lt"/>
          <a:ea typeface="+mj-ea"/>
          <a:cs typeface="+mj-cs"/>
          <a:sym typeface="Graphik"/>
        </a:defRPr>
      </a:lvl1pPr>
      <a:lvl2pPr marL="1117600" marR="0" indent="-558800" algn="l" defTabSz="2438400" rtl="0" latinLnBrk="0">
        <a:lnSpc>
          <a:spcPct val="100000"/>
        </a:lnSpc>
        <a:spcBef>
          <a:spcPts val="2400"/>
        </a:spcBef>
        <a:spcAft>
          <a:spcPts val="0"/>
        </a:spcAft>
        <a:buClr>
          <a:srgbClr val="FFFFFF"/>
        </a:buClr>
        <a:buSzPct val="100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+mj-lt"/>
          <a:ea typeface="+mj-ea"/>
          <a:cs typeface="+mj-cs"/>
          <a:sym typeface="Graphik"/>
        </a:defRPr>
      </a:lvl2pPr>
      <a:lvl3pPr marL="1676400" marR="0" indent="-558800" algn="l" defTabSz="2438400" rtl="0" latinLnBrk="0">
        <a:lnSpc>
          <a:spcPct val="100000"/>
        </a:lnSpc>
        <a:spcBef>
          <a:spcPts val="2400"/>
        </a:spcBef>
        <a:spcAft>
          <a:spcPts val="0"/>
        </a:spcAft>
        <a:buClr>
          <a:srgbClr val="FFFFFF"/>
        </a:buClr>
        <a:buSzPct val="100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+mj-lt"/>
          <a:ea typeface="+mj-ea"/>
          <a:cs typeface="+mj-cs"/>
          <a:sym typeface="Graphik"/>
        </a:defRPr>
      </a:lvl3pPr>
      <a:lvl4pPr marL="2235200" marR="0" indent="-558800" algn="l" defTabSz="2438400" rtl="0" latinLnBrk="0">
        <a:lnSpc>
          <a:spcPct val="100000"/>
        </a:lnSpc>
        <a:spcBef>
          <a:spcPts val="2400"/>
        </a:spcBef>
        <a:spcAft>
          <a:spcPts val="0"/>
        </a:spcAft>
        <a:buClr>
          <a:srgbClr val="FFFFFF"/>
        </a:buClr>
        <a:buSzPct val="100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+mj-lt"/>
          <a:ea typeface="+mj-ea"/>
          <a:cs typeface="+mj-cs"/>
          <a:sym typeface="Graphik"/>
        </a:defRPr>
      </a:lvl4pPr>
      <a:lvl5pPr marL="2794000" marR="0" indent="-558800" algn="l" defTabSz="2438400" rtl="0" latinLnBrk="0">
        <a:lnSpc>
          <a:spcPct val="100000"/>
        </a:lnSpc>
        <a:spcBef>
          <a:spcPts val="2400"/>
        </a:spcBef>
        <a:spcAft>
          <a:spcPts val="0"/>
        </a:spcAft>
        <a:buClr>
          <a:srgbClr val="FFFFFF"/>
        </a:buClr>
        <a:buSzPct val="100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+mj-lt"/>
          <a:ea typeface="+mj-ea"/>
          <a:cs typeface="+mj-cs"/>
          <a:sym typeface="Graphik"/>
        </a:defRPr>
      </a:lvl5pPr>
      <a:lvl6pPr marL="3352800" marR="0" indent="-558800" algn="l" defTabSz="2438400" rtl="0" latinLnBrk="0">
        <a:lnSpc>
          <a:spcPct val="100000"/>
        </a:lnSpc>
        <a:spcBef>
          <a:spcPts val="2400"/>
        </a:spcBef>
        <a:spcAft>
          <a:spcPts val="0"/>
        </a:spcAft>
        <a:buClr>
          <a:srgbClr val="FFFFFF"/>
        </a:buClr>
        <a:buSzPct val="100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+mj-lt"/>
          <a:ea typeface="+mj-ea"/>
          <a:cs typeface="+mj-cs"/>
          <a:sym typeface="Graphik"/>
        </a:defRPr>
      </a:lvl6pPr>
      <a:lvl7pPr marL="3911600" marR="0" indent="-558800" algn="l" defTabSz="2438400" rtl="0" latinLnBrk="0">
        <a:lnSpc>
          <a:spcPct val="100000"/>
        </a:lnSpc>
        <a:spcBef>
          <a:spcPts val="2400"/>
        </a:spcBef>
        <a:spcAft>
          <a:spcPts val="0"/>
        </a:spcAft>
        <a:buClr>
          <a:srgbClr val="FFFFFF"/>
        </a:buClr>
        <a:buSzPct val="100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+mj-lt"/>
          <a:ea typeface="+mj-ea"/>
          <a:cs typeface="+mj-cs"/>
          <a:sym typeface="Graphik"/>
        </a:defRPr>
      </a:lvl7pPr>
      <a:lvl8pPr marL="4470400" marR="0" indent="-558800" algn="l" defTabSz="2438400" rtl="0" latinLnBrk="0">
        <a:lnSpc>
          <a:spcPct val="100000"/>
        </a:lnSpc>
        <a:spcBef>
          <a:spcPts val="2400"/>
        </a:spcBef>
        <a:spcAft>
          <a:spcPts val="0"/>
        </a:spcAft>
        <a:buClr>
          <a:srgbClr val="FFFFFF"/>
        </a:buClr>
        <a:buSzPct val="100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+mj-lt"/>
          <a:ea typeface="+mj-ea"/>
          <a:cs typeface="+mj-cs"/>
          <a:sym typeface="Graphik"/>
        </a:defRPr>
      </a:lvl8pPr>
      <a:lvl9pPr marL="5029200" marR="0" indent="-558800" algn="l" defTabSz="2438400" rtl="0" latinLnBrk="0">
        <a:lnSpc>
          <a:spcPct val="100000"/>
        </a:lnSpc>
        <a:spcBef>
          <a:spcPts val="2400"/>
        </a:spcBef>
        <a:spcAft>
          <a:spcPts val="0"/>
        </a:spcAft>
        <a:buClr>
          <a:srgbClr val="FFFFFF"/>
        </a:buClr>
        <a:buSzPct val="100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+mj-lt"/>
          <a:ea typeface="+mj-ea"/>
          <a:cs typeface="+mj-cs"/>
          <a:sym typeface="Graphik"/>
        </a:defRPr>
      </a:lvl9pPr>
    </p:bodyStyle>
    <p:other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2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1pPr>
      <a:lvl2pPr marL="0" marR="0" indent="457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2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2pPr>
      <a:lvl3pPr marL="0" marR="0" indent="914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2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3pPr>
      <a:lvl4pPr marL="0" marR="0" indent="1371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2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4pPr>
      <a:lvl5pPr marL="0" marR="0" indent="18288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2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5pPr>
      <a:lvl6pPr marL="0" marR="0" indent="22860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2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6pPr>
      <a:lvl7pPr marL="0" marR="0" indent="2743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2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7pPr>
      <a:lvl8pPr marL="0" marR="0" indent="3200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2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8pPr>
      <a:lvl9pPr marL="0" marR="0" indent="3657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2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mirrezaask.github.io/Context-aware-Forecast-augmented-Risk-aware-RL-Autoscaling/" TargetMode="Externa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Risk-Aware Contextual Autoscaling using Forecast Credibility and Reinforcement Learning"/>
          <p:cNvSpPr txBox="1"/>
          <p:nvPr>
            <p:ph type="ctrTitle"/>
          </p:nvPr>
        </p:nvSpPr>
        <p:spPr>
          <a:xfrm>
            <a:off x="1270000" y="4918273"/>
            <a:ext cx="21844000" cy="3879454"/>
          </a:xfrm>
          <a:prstGeom prst="rect">
            <a:avLst/>
          </a:prstGeom>
        </p:spPr>
        <p:txBody>
          <a:bodyPr/>
          <a:lstStyle>
            <a:lvl1pPr defTabSz="1219200">
              <a:defRPr spc="-235" sz="7850">
                <a:gradFill flip="none" rotWithShape="1">
                  <a:gsLst>
                    <a:gs pos="0">
                      <a:srgbClr val="FFFFFF"/>
                    </a:gs>
                    <a:gs pos="100000">
                      <a:srgbClr val="929292"/>
                    </a:gs>
                  </a:gsLst>
                  <a:lin ang="5400000" scaled="0"/>
                </a:gradFill>
                <a:latin typeface="+mj-lt"/>
                <a:ea typeface="+mj-ea"/>
                <a:cs typeface="+mj-cs"/>
                <a:sym typeface="Graphik"/>
              </a:defRPr>
            </a:lvl1pPr>
          </a:lstStyle>
          <a:p>
            <a:pPr/>
            <a:r>
              <a:t>Risk-Aware Contextual Autoscaling using Forecast Credibility and Reinforcement Learning</a:t>
            </a:r>
          </a:p>
        </p:txBody>
      </p:sp>
      <p:sp>
        <p:nvSpPr>
          <p:cNvPr id="172" name="Amirreza Askarpour, Dr. Sasan Hosseinali zade, Feb 2026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>
              <a:defRPr sz="2700"/>
            </a:lvl1pPr>
          </a:lstStyle>
          <a:p>
            <a:pPr/>
            <a:r>
              <a:t>Amirreza Askarpour, Dr. Sasan Hosseinali zade, Feb 2026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roblem Statemen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341120">
              <a:lnSpc>
                <a:spcPct val="90000"/>
              </a:lnSpc>
              <a:defRPr spc="-259" sz="8635">
                <a:latin typeface="+mj-lt"/>
                <a:ea typeface="+mj-ea"/>
                <a:cs typeface="+mj-cs"/>
                <a:sym typeface="Graphik"/>
              </a:defRPr>
            </a:lvl1pPr>
          </a:lstStyle>
          <a:p>
            <a:pPr/>
            <a:r>
              <a:t>Problem Statement</a:t>
            </a:r>
          </a:p>
        </p:txBody>
      </p:sp>
      <p:sp>
        <p:nvSpPr>
          <p:cNvPr id="175" name="Autoscaling Under Uncertainty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defTabSz="975335">
              <a:lnSpc>
                <a:spcPct val="90000"/>
              </a:lnSpc>
              <a:defRPr spc="-139" sz="4640">
                <a:gradFill flip="none" rotWithShape="1">
                  <a:gsLst>
                    <a:gs pos="0">
                      <a:srgbClr val="00E8FF"/>
                    </a:gs>
                    <a:gs pos="100000">
                      <a:srgbClr val="FF00F7"/>
                    </a:gs>
                  </a:gsLst>
                  <a:lin ang="3967761" scaled="0"/>
                </a:gradFill>
                <a:latin typeface="+mn-lt"/>
                <a:ea typeface="+mn-ea"/>
                <a:cs typeface="+mn-cs"/>
                <a:sym typeface="Graphik Semibold"/>
              </a:defRPr>
            </a:lvl1pPr>
          </a:lstStyle>
          <a:p>
            <a:pPr/>
            <a:r>
              <a:t>Autoscaling Under Uncertainty</a:t>
            </a:r>
            <a:endParaRPr>
              <a:latin typeface="+mj-lt"/>
              <a:ea typeface="+mj-ea"/>
              <a:cs typeface="+mj-cs"/>
              <a:sym typeface="Graphik"/>
            </a:endParaRPr>
          </a:p>
        </p:txBody>
      </p:sp>
      <p:sp>
        <p:nvSpPr>
          <p:cNvPr id="176" name="Cloud systems must scale resources dynamically to handle workload changes.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 defTabSz="1853183">
              <a:spcBef>
                <a:spcPts val="1800"/>
              </a:spcBef>
              <a:buClrTx/>
              <a:buSzTx/>
              <a:buNone/>
              <a:defRPr sz="3648"/>
            </a:pPr>
            <a:r>
              <a:t>Cloud systems must scale resources dynamically to handle workload changes.</a:t>
            </a:r>
          </a:p>
          <a:p>
            <a:pPr marL="0" indent="0" defTabSz="1853183">
              <a:spcBef>
                <a:spcPts val="1800"/>
              </a:spcBef>
              <a:buClrTx/>
              <a:buSzTx/>
              <a:buNone/>
              <a:defRPr sz="3648"/>
            </a:pPr>
            <a:r>
              <a:t>Current approaches fall into 3 main categories:</a:t>
            </a:r>
          </a:p>
          <a:p>
            <a:pPr lvl="1" marL="849375" indent="-424687" defTabSz="1853183">
              <a:spcBef>
                <a:spcPts val="1800"/>
              </a:spcBef>
              <a:defRPr sz="3648"/>
            </a:pPr>
            <a:r>
              <a:t>Reactive autoscaling — scales after workload changes occur</a:t>
            </a:r>
          </a:p>
          <a:p>
            <a:pPr lvl="1" marL="849375" indent="-424687" defTabSz="1853183">
              <a:spcBef>
                <a:spcPts val="1800"/>
              </a:spcBef>
              <a:defRPr sz="3648"/>
            </a:pPr>
            <a:r>
              <a:t>Forecast-based autoscaling — scales using predicted workload</a:t>
            </a:r>
          </a:p>
          <a:p>
            <a:pPr lvl="1" marL="849375" indent="-424687" defTabSz="1853183">
              <a:spcBef>
                <a:spcPts val="1800"/>
              </a:spcBef>
              <a:defRPr sz="3648"/>
            </a:pPr>
            <a:r>
              <a:t>Simple Threshold Based scaling ( e.g K8s HPA )</a:t>
            </a:r>
          </a:p>
          <a:p>
            <a:pPr marL="0" indent="0" defTabSz="1853183">
              <a:spcBef>
                <a:spcPts val="1800"/>
              </a:spcBef>
              <a:buClrTx/>
              <a:buSzTx/>
              <a:buNone/>
              <a:defRPr sz="3648"/>
            </a:pPr>
            <a:r>
              <a:t>However:</a:t>
            </a:r>
          </a:p>
          <a:p>
            <a:pPr lvl="1" marL="0" indent="347472" defTabSz="1853183">
              <a:spcBef>
                <a:spcPts val="1800"/>
              </a:spcBef>
              <a:buClrTx/>
              <a:buSzTx/>
              <a:buNone/>
              <a:defRPr sz="3648"/>
            </a:pPr>
            <a:r>
              <a:t>• Workloads are uncertain and may drift over time</a:t>
            </a:r>
            <a:br/>
            <a:r>
              <a:t>• Forecasts contain error and uncertainty</a:t>
            </a:r>
            <a:br/>
            <a:r>
              <a:t>• Real systems often have contextual knowledge about future events (campaigns, deployments)</a:t>
            </a:r>
          </a:p>
          <a:p>
            <a:pPr marL="0" indent="0" defTabSz="1853183">
              <a:spcBef>
                <a:spcPts val="1800"/>
              </a:spcBef>
              <a:buClrTx/>
              <a:buSzTx/>
              <a:buNone/>
              <a:defRPr sz="3648"/>
            </a:pPr>
            <a:r>
              <a:rPr b="1"/>
              <a:t>Core issue:</a:t>
            </a:r>
            <a:br/>
            <a:r>
              <a:t>Most autoscalers treat forecasts as deterministic values rather than uncertain beliefs.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Why This Matter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341120">
              <a:lnSpc>
                <a:spcPct val="90000"/>
              </a:lnSpc>
              <a:defRPr spc="-259" sz="8635">
                <a:latin typeface="+mj-lt"/>
                <a:ea typeface="+mj-ea"/>
                <a:cs typeface="+mj-cs"/>
                <a:sym typeface="Graphik"/>
              </a:defRPr>
            </a:lvl1pPr>
          </a:lstStyle>
          <a:p>
            <a:pPr/>
            <a:r>
              <a:t>Why This Matters</a:t>
            </a:r>
          </a:p>
        </p:txBody>
      </p:sp>
      <p:sp>
        <p:nvSpPr>
          <p:cNvPr id="179" name="Operational and Economic Impact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defTabSz="975335">
              <a:lnSpc>
                <a:spcPct val="90000"/>
              </a:lnSpc>
              <a:defRPr spc="-139" sz="4640">
                <a:gradFill flip="none" rotWithShape="1">
                  <a:gsLst>
                    <a:gs pos="0">
                      <a:srgbClr val="00E8FF"/>
                    </a:gs>
                    <a:gs pos="100000">
                      <a:srgbClr val="FF00F7"/>
                    </a:gs>
                  </a:gsLst>
                  <a:lin ang="3967761" scaled="0"/>
                </a:gradFill>
                <a:latin typeface="+mn-lt"/>
                <a:ea typeface="+mn-ea"/>
                <a:cs typeface="+mn-cs"/>
                <a:sym typeface="Graphik Semibold"/>
              </a:defRPr>
            </a:lvl1pPr>
          </a:lstStyle>
          <a:p>
            <a:pPr/>
            <a:r>
              <a:t>Operational and Economic Impact</a:t>
            </a:r>
            <a:endParaRPr>
              <a:latin typeface="+mj-lt"/>
              <a:ea typeface="+mj-ea"/>
              <a:cs typeface="+mj-cs"/>
              <a:sym typeface="Graphik"/>
            </a:endParaRPr>
          </a:p>
        </p:txBody>
      </p:sp>
      <p:sp>
        <p:nvSpPr>
          <p:cNvPr id="180" name="• SLA violations degrade performance and user experience • Under-provisioning leads to latency spikes • Over-provisioning increases infrastructure cost • Forecast errors can amplify scaling instability • Ignoring contextual events reduces proactive capab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>
              <a:buClrTx/>
              <a:buSzTx/>
              <a:buNone/>
            </a:pPr>
            <a:r>
              <a:t>• SLA violations degrade performance and user experience</a:t>
            </a:r>
            <a:br/>
            <a:r>
              <a:t>• Under-provisioning leads to latency spikes</a:t>
            </a:r>
            <a:br/>
            <a:r>
              <a:t>• Over-provisioning increases infrastructure cost</a:t>
            </a:r>
            <a:br/>
            <a:r>
              <a:t>• Forecast errors can amplify scaling instability</a:t>
            </a:r>
            <a:br/>
            <a:r>
              <a:t>• Ignoring contextual events reduces proactive capability</a:t>
            </a:r>
          </a:p>
          <a:p>
            <a:pPr marL="0" indent="0">
              <a:buClrTx/>
              <a:buSzTx/>
              <a:buNone/>
            </a:pPr>
            <a:r>
              <a:t>Modern cloud environments require decision-making under uncertainty, not simple threshold-based control.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Forecast-Based Proactive Autoscaling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341120">
              <a:lnSpc>
                <a:spcPct val="90000"/>
              </a:lnSpc>
              <a:defRPr spc="-259" sz="8635">
                <a:latin typeface="+mj-lt"/>
                <a:ea typeface="+mj-ea"/>
                <a:cs typeface="+mj-cs"/>
                <a:sym typeface="Graphik"/>
              </a:defRPr>
            </a:lvl1pPr>
          </a:lstStyle>
          <a:p>
            <a:pPr/>
            <a:r>
              <a:t>Forecast-Based Proactive Autoscaling</a:t>
            </a:r>
          </a:p>
        </p:txBody>
      </p:sp>
      <p:sp>
        <p:nvSpPr>
          <p:cNvPr id="183" name="GraphOpticon — Forecast-Driven Scaling [1]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defTabSz="975335">
              <a:lnSpc>
                <a:spcPct val="90000"/>
              </a:lnSpc>
              <a:defRPr spc="-139" sz="4640">
                <a:gradFill flip="none" rotWithShape="1">
                  <a:gsLst>
                    <a:gs pos="0">
                      <a:srgbClr val="00E8FF"/>
                    </a:gs>
                    <a:gs pos="100000">
                      <a:srgbClr val="FF00F7"/>
                    </a:gs>
                  </a:gsLst>
                  <a:lin ang="3967761" scaled="0"/>
                </a:gradFill>
                <a:latin typeface="+mn-lt"/>
                <a:ea typeface="+mn-ea"/>
                <a:cs typeface="+mn-cs"/>
                <a:sym typeface="Graphik Semibold"/>
              </a:defRPr>
            </a:lvl1pPr>
          </a:lstStyle>
          <a:p>
            <a:pPr/>
            <a:r>
              <a:t>GraphOpticon — Forecast-Driven Scaling [1]</a:t>
            </a:r>
            <a:endParaRPr>
              <a:latin typeface="+mj-lt"/>
              <a:ea typeface="+mj-ea"/>
              <a:cs typeface="+mj-cs"/>
              <a:sym typeface="Graphik"/>
            </a:endParaRPr>
          </a:p>
        </p:txBody>
      </p:sp>
      <p:sp>
        <p:nvSpPr>
          <p:cNvPr id="184" name="Key characteristics: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 defTabSz="1536191">
              <a:spcBef>
                <a:spcPts val="1500"/>
              </a:spcBef>
              <a:buClrTx/>
              <a:buSzTx/>
              <a:buNone/>
              <a:defRPr sz="3024"/>
            </a:pPr>
            <a:r>
              <a:t>Key characteristics:</a:t>
            </a:r>
          </a:p>
          <a:p>
            <a:pPr lvl="1" marL="704087" indent="-352043" defTabSz="1536191">
              <a:spcBef>
                <a:spcPts val="1500"/>
              </a:spcBef>
              <a:defRPr sz="3024"/>
            </a:pPr>
            <a:r>
              <a:t>Multi-step workload forecasting</a:t>
            </a:r>
          </a:p>
          <a:p>
            <a:pPr lvl="1" marL="704087" indent="-352043" defTabSz="1536191">
              <a:spcBef>
                <a:spcPts val="1500"/>
              </a:spcBef>
              <a:defRPr sz="3024"/>
            </a:pPr>
            <a:r>
              <a:t>Global predictive model</a:t>
            </a:r>
          </a:p>
          <a:p>
            <a:pPr lvl="1" marL="704087" indent="-352043" defTabSz="1536191">
              <a:spcBef>
                <a:spcPts val="1500"/>
              </a:spcBef>
              <a:defRPr sz="3024"/>
            </a:pPr>
            <a:r>
              <a:t>Proactive horizontal scaling</a:t>
            </a:r>
          </a:p>
          <a:p>
            <a:pPr lvl="1" marL="704087" indent="-352043" defTabSz="1536191">
              <a:spcBef>
                <a:spcPts val="1500"/>
              </a:spcBef>
              <a:defRPr sz="3024"/>
            </a:pPr>
            <a:r>
              <a:t>Evaluated on real cluster traces</a:t>
            </a:r>
          </a:p>
          <a:p>
            <a:pPr marL="0" indent="0" defTabSz="1536191">
              <a:spcBef>
                <a:spcPts val="1500"/>
              </a:spcBef>
              <a:buClrTx/>
              <a:buSzTx/>
              <a:buNone/>
              <a:defRPr sz="3024"/>
            </a:pPr>
            <a:r>
              <a:t>Limitations:</a:t>
            </a:r>
          </a:p>
          <a:p>
            <a:pPr lvl="1" marL="704087" indent="-352043" defTabSz="1536191">
              <a:spcBef>
                <a:spcPts val="1500"/>
              </a:spcBef>
              <a:defRPr sz="3024"/>
            </a:pPr>
            <a:r>
              <a:t>Forecast outputs used directly for scaling decisions</a:t>
            </a:r>
          </a:p>
          <a:p>
            <a:pPr lvl="1" marL="704087" indent="-352043" defTabSz="1536191">
              <a:spcBef>
                <a:spcPts val="1500"/>
              </a:spcBef>
              <a:defRPr sz="3024"/>
            </a:pPr>
            <a:r>
              <a:t>No explicit probabilistic uncertainty calibration</a:t>
            </a:r>
          </a:p>
          <a:p>
            <a:pPr lvl="1" marL="704087" indent="-352043" defTabSz="1536191">
              <a:spcBef>
                <a:spcPts val="1500"/>
              </a:spcBef>
              <a:defRPr sz="3024"/>
            </a:pPr>
            <a:r>
              <a:t>No credibility or trust modeling</a:t>
            </a:r>
          </a:p>
          <a:p>
            <a:pPr lvl="1" marL="704087" indent="-352043" defTabSz="1536191">
              <a:spcBef>
                <a:spcPts val="1500"/>
              </a:spcBef>
              <a:defRPr sz="3024"/>
            </a:pPr>
            <a:r>
              <a:t>No reinforcement learning decision layer</a:t>
            </a:r>
          </a:p>
          <a:p>
            <a:pPr lvl="1" marL="704087" indent="-352043" defTabSz="1536191">
              <a:spcBef>
                <a:spcPts val="1500"/>
              </a:spcBef>
              <a:defRPr sz="3024"/>
            </a:pPr>
            <a:r>
              <a:t>No contextual event modeling</a:t>
            </a:r>
          </a:p>
          <a:p>
            <a:pPr marL="0" indent="0" defTabSz="1536191">
              <a:spcBef>
                <a:spcPts val="1500"/>
              </a:spcBef>
              <a:buClrTx/>
              <a:buSzTx/>
              <a:buNone/>
              <a:defRPr sz="3024"/>
            </a:pPr>
            <a:r>
              <a:t>Forecast quality is assumed, not evaluated or integrated as belief.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Reactive Reinforcement Learning Autoscaling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316736">
              <a:lnSpc>
                <a:spcPct val="90000"/>
              </a:lnSpc>
              <a:defRPr spc="-254" sz="8478">
                <a:latin typeface="+mj-lt"/>
                <a:ea typeface="+mj-ea"/>
                <a:cs typeface="+mj-cs"/>
                <a:sym typeface="Graphik"/>
              </a:defRPr>
            </a:lvl1pPr>
          </a:lstStyle>
          <a:p>
            <a:pPr/>
            <a:r>
              <a:t>Reactive Reinforcement Learning Autoscaling</a:t>
            </a:r>
          </a:p>
        </p:txBody>
      </p:sp>
      <p:sp>
        <p:nvSpPr>
          <p:cNvPr id="187" name="Q-Learning Based Autoscaling [2]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defTabSz="975335">
              <a:lnSpc>
                <a:spcPct val="90000"/>
              </a:lnSpc>
              <a:defRPr spc="-139" sz="4640">
                <a:gradFill flip="none" rotWithShape="1">
                  <a:gsLst>
                    <a:gs pos="0">
                      <a:srgbClr val="00E8FF"/>
                    </a:gs>
                    <a:gs pos="100000">
                      <a:srgbClr val="FF00F7"/>
                    </a:gs>
                  </a:gsLst>
                  <a:lin ang="3967761" scaled="0"/>
                </a:gradFill>
                <a:latin typeface="+mn-lt"/>
                <a:ea typeface="+mn-ea"/>
                <a:cs typeface="+mn-cs"/>
                <a:sym typeface="Graphik Semibold"/>
              </a:defRPr>
            </a:lvl1pPr>
          </a:lstStyle>
          <a:p>
            <a:pPr/>
            <a:r>
              <a:t>Q-Learning Based Autoscaling [2]</a:t>
            </a:r>
            <a:endParaRPr>
              <a:latin typeface="+mj-lt"/>
              <a:ea typeface="+mj-ea"/>
              <a:cs typeface="+mj-cs"/>
              <a:sym typeface="Graphik"/>
            </a:endParaRPr>
          </a:p>
        </p:txBody>
      </p:sp>
      <p:sp>
        <p:nvSpPr>
          <p:cNvPr id="188" name="Key characteristics: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 defTabSz="1731263">
              <a:spcBef>
                <a:spcPts val="1700"/>
              </a:spcBef>
              <a:buClrTx/>
              <a:buSzTx/>
              <a:buNone/>
              <a:defRPr sz="3407"/>
            </a:pPr>
            <a:r>
              <a:t>Key characteristics:</a:t>
            </a:r>
          </a:p>
          <a:p>
            <a:pPr marL="396747" indent="-396747" defTabSz="1731263">
              <a:spcBef>
                <a:spcPts val="1700"/>
              </a:spcBef>
              <a:defRPr sz="3407"/>
            </a:pPr>
            <a:r>
              <a:t>MDP-based autoscaling formulation</a:t>
            </a:r>
          </a:p>
          <a:p>
            <a:pPr marL="396747" indent="-396747" defTabSz="1731263">
              <a:spcBef>
                <a:spcPts val="1700"/>
              </a:spcBef>
              <a:defRPr sz="3407"/>
            </a:pPr>
            <a:r>
              <a:t>Q-learning decision mechanism</a:t>
            </a:r>
          </a:p>
          <a:p>
            <a:pPr marL="396747" indent="-396747" defTabSz="1731263">
              <a:spcBef>
                <a:spcPts val="1700"/>
              </a:spcBef>
              <a:defRPr sz="3407"/>
            </a:pPr>
            <a:r>
              <a:t>Reward includes SLA penalties and resource cost</a:t>
            </a:r>
          </a:p>
          <a:p>
            <a:pPr marL="396747" indent="-396747" defTabSz="1731263">
              <a:spcBef>
                <a:spcPts val="1700"/>
              </a:spcBef>
              <a:defRPr sz="3407"/>
            </a:pPr>
            <a:r>
              <a:t>Reactive scaling decisions</a:t>
            </a:r>
          </a:p>
          <a:p>
            <a:pPr marL="0" indent="0" defTabSz="1731263">
              <a:spcBef>
                <a:spcPts val="1700"/>
              </a:spcBef>
              <a:buClrTx/>
              <a:buSzTx/>
              <a:buNone/>
              <a:defRPr sz="3407"/>
            </a:pPr>
            <a:r>
              <a:t>Limitations:</a:t>
            </a:r>
          </a:p>
          <a:p>
            <a:pPr marL="396747" indent="-396747" defTabSz="1731263">
              <a:spcBef>
                <a:spcPts val="1700"/>
              </a:spcBef>
              <a:defRPr sz="3407"/>
            </a:pPr>
            <a:r>
              <a:t>No forecasting integration</a:t>
            </a:r>
          </a:p>
          <a:p>
            <a:pPr marL="396747" indent="-396747" defTabSz="1731263">
              <a:spcBef>
                <a:spcPts val="1700"/>
              </a:spcBef>
              <a:defRPr sz="3407"/>
            </a:pPr>
            <a:r>
              <a:t>No uncertainty representation</a:t>
            </a:r>
          </a:p>
          <a:p>
            <a:pPr marL="396747" indent="-396747" defTabSz="1731263">
              <a:spcBef>
                <a:spcPts val="1700"/>
              </a:spcBef>
              <a:defRPr sz="3407"/>
            </a:pPr>
            <a:r>
              <a:t>No contextual event awareness</a:t>
            </a:r>
          </a:p>
          <a:p>
            <a:pPr marL="396747" indent="-396747" defTabSz="1731263">
              <a:spcBef>
                <a:spcPts val="1700"/>
              </a:spcBef>
              <a:defRPr sz="3407"/>
            </a:pPr>
            <a:r>
              <a:t>Learns only from current and past states</a:t>
            </a:r>
          </a:p>
          <a:p>
            <a:pPr marL="0" indent="0" defTabSz="1731263">
              <a:spcBef>
                <a:spcPts val="1700"/>
              </a:spcBef>
              <a:buClrTx/>
              <a:buSzTx/>
              <a:buNone/>
              <a:defRPr sz="3407"/>
            </a:pPr>
            <a:r>
              <a:t>Decisions are reactive, without reasoning about uncertain future workload.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Identified Research Gap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341120">
              <a:lnSpc>
                <a:spcPct val="90000"/>
              </a:lnSpc>
              <a:defRPr spc="-259" sz="8635">
                <a:latin typeface="+mj-lt"/>
                <a:ea typeface="+mj-ea"/>
                <a:cs typeface="+mj-cs"/>
                <a:sym typeface="Graphik"/>
              </a:defRPr>
            </a:lvl1pPr>
          </a:lstStyle>
          <a:p>
            <a:pPr/>
            <a:r>
              <a:t>Identified Research Gap</a:t>
            </a:r>
          </a:p>
        </p:txBody>
      </p:sp>
      <p:sp>
        <p:nvSpPr>
          <p:cNvPr id="191" name="Missing Integration in Existing Approaches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defTabSz="975335">
              <a:lnSpc>
                <a:spcPct val="90000"/>
              </a:lnSpc>
              <a:defRPr spc="-139" sz="4640">
                <a:gradFill flip="none" rotWithShape="1">
                  <a:gsLst>
                    <a:gs pos="0">
                      <a:srgbClr val="00E8FF"/>
                    </a:gs>
                    <a:gs pos="100000">
                      <a:srgbClr val="FF00F7"/>
                    </a:gs>
                  </a:gsLst>
                  <a:lin ang="3967761" scaled="0"/>
                </a:gradFill>
                <a:latin typeface="+mn-lt"/>
                <a:ea typeface="+mn-ea"/>
                <a:cs typeface="+mn-cs"/>
                <a:sym typeface="Graphik Semibold"/>
              </a:defRPr>
            </a:lvl1pPr>
          </a:lstStyle>
          <a:p>
            <a:pPr/>
            <a:r>
              <a:t>Missing Integration in Existing Approaches</a:t>
            </a:r>
            <a:endParaRPr>
              <a:latin typeface="+mj-lt"/>
              <a:ea typeface="+mj-ea"/>
              <a:cs typeface="+mj-cs"/>
              <a:sym typeface="Graphik"/>
            </a:endParaRPr>
          </a:p>
        </p:txBody>
      </p:sp>
      <p:sp>
        <p:nvSpPr>
          <p:cNvPr id="192" name="Reactive RL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 defTabSz="1487424">
              <a:spcBef>
                <a:spcPts val="1400"/>
              </a:spcBef>
              <a:buClrTx/>
              <a:buSzTx/>
              <a:buNone/>
              <a:defRPr sz="2928"/>
            </a:pPr>
            <a:r>
              <a:t>Reactive RL</a:t>
            </a:r>
          </a:p>
          <a:p>
            <a:pPr lvl="1" marL="681736" indent="-340868" defTabSz="1487424">
              <a:spcBef>
                <a:spcPts val="1400"/>
              </a:spcBef>
              <a:defRPr sz="2928"/>
            </a:pPr>
            <a:r>
              <a:t>No future modeling</a:t>
            </a:r>
          </a:p>
          <a:p>
            <a:pPr lvl="1" marL="681736" indent="-340868" defTabSz="1487424">
              <a:spcBef>
                <a:spcPts val="1400"/>
              </a:spcBef>
              <a:defRPr sz="2928"/>
            </a:pPr>
            <a:r>
              <a:t>No belief representation</a:t>
            </a:r>
          </a:p>
          <a:p>
            <a:pPr marL="0" indent="0" defTabSz="1487424">
              <a:spcBef>
                <a:spcPts val="1400"/>
              </a:spcBef>
              <a:buClrTx/>
              <a:buSzTx/>
              <a:buNone/>
              <a:defRPr sz="2928"/>
            </a:pPr>
            <a:r>
              <a:t>Forecast-Based</a:t>
            </a:r>
          </a:p>
          <a:p>
            <a:pPr lvl="1" marL="681736" indent="-340868" defTabSz="1487424">
              <a:spcBef>
                <a:spcPts val="1400"/>
              </a:spcBef>
              <a:defRPr sz="2928"/>
            </a:pPr>
            <a:r>
              <a:t>Deterministic use of predictions</a:t>
            </a:r>
          </a:p>
          <a:p>
            <a:pPr lvl="1" marL="681736" indent="-340868" defTabSz="1487424">
              <a:spcBef>
                <a:spcPts val="1400"/>
              </a:spcBef>
              <a:defRPr sz="2928"/>
            </a:pPr>
            <a:r>
              <a:t>No trust estimation</a:t>
            </a:r>
          </a:p>
          <a:p>
            <a:pPr marL="0" indent="0" defTabSz="1487424">
              <a:spcBef>
                <a:spcPts val="1400"/>
              </a:spcBef>
              <a:buClrTx/>
              <a:buSzTx/>
              <a:buNone/>
              <a:defRPr sz="2928"/>
            </a:pPr>
            <a:r>
              <a:t>Real-World Requirement</a:t>
            </a:r>
          </a:p>
          <a:p>
            <a:pPr lvl="1" marL="681736" indent="-340868" defTabSz="1487424">
              <a:spcBef>
                <a:spcPts val="1400"/>
              </a:spcBef>
              <a:defRPr sz="2928"/>
            </a:pPr>
            <a:r>
              <a:t>Uncertain future workload</a:t>
            </a:r>
          </a:p>
          <a:p>
            <a:pPr lvl="1" marL="681736" indent="-340868" defTabSz="1487424">
              <a:spcBef>
                <a:spcPts val="1400"/>
              </a:spcBef>
              <a:defRPr sz="2928"/>
            </a:pPr>
            <a:r>
              <a:t>Context-aware reasoning</a:t>
            </a:r>
          </a:p>
          <a:p>
            <a:pPr lvl="1" marL="681736" indent="-340868" defTabSz="1487424">
              <a:spcBef>
                <a:spcPts val="1400"/>
              </a:spcBef>
              <a:defRPr sz="2928"/>
            </a:pPr>
            <a:r>
              <a:t>Explicit risk-aware decision-making</a:t>
            </a:r>
          </a:p>
          <a:p>
            <a:pPr marL="0" indent="0" defTabSz="1487424">
              <a:spcBef>
                <a:spcPts val="1400"/>
              </a:spcBef>
              <a:buClrTx/>
              <a:buSzTx/>
              <a:buNone/>
              <a:defRPr sz="2928"/>
            </a:pPr>
            <a:r>
              <a:rPr b="1"/>
              <a:t>Gap:</a:t>
            </a:r>
            <a:br/>
            <a:r>
              <a:t>There is no unified framework that integrates probabilistic forecasts, forecast credibility scoring, contextual events, and risk-aware reinforcement learning.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roposed Framework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341120">
              <a:lnSpc>
                <a:spcPct val="90000"/>
              </a:lnSpc>
              <a:defRPr spc="-259" sz="8635">
                <a:latin typeface="+mj-lt"/>
                <a:ea typeface="+mj-ea"/>
                <a:cs typeface="+mj-cs"/>
                <a:sym typeface="Graphik"/>
              </a:defRPr>
            </a:lvl1pPr>
          </a:lstStyle>
          <a:p>
            <a:pPr/>
            <a:r>
              <a:t>Proposed Framework</a:t>
            </a:r>
          </a:p>
        </p:txBody>
      </p:sp>
      <p:sp>
        <p:nvSpPr>
          <p:cNvPr id="195" name="Risk-Aware Forecast-Augmented RL Architecture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defTabSz="975335">
              <a:lnSpc>
                <a:spcPct val="90000"/>
              </a:lnSpc>
              <a:defRPr spc="-139" sz="4640">
                <a:gradFill flip="none" rotWithShape="1">
                  <a:gsLst>
                    <a:gs pos="0">
                      <a:srgbClr val="00E8FF"/>
                    </a:gs>
                    <a:gs pos="100000">
                      <a:srgbClr val="FF00F7"/>
                    </a:gs>
                  </a:gsLst>
                  <a:lin ang="3967761" scaled="0"/>
                </a:gradFill>
                <a:latin typeface="+mn-lt"/>
                <a:ea typeface="+mn-ea"/>
                <a:cs typeface="+mn-cs"/>
                <a:sym typeface="Graphik Semibold"/>
              </a:defRPr>
            </a:lvl1pPr>
          </a:lstStyle>
          <a:p>
            <a:pPr/>
            <a:r>
              <a:t>Risk-Aware Forecast-Augmented RL Architecture</a:t>
            </a:r>
            <a:endParaRPr>
              <a:latin typeface="+mj-lt"/>
              <a:ea typeface="+mj-ea"/>
              <a:cs typeface="+mj-cs"/>
              <a:sym typeface="Graphik"/>
            </a:endParaRPr>
          </a:p>
        </p:txBody>
      </p:sp>
      <p:sp>
        <p:nvSpPr>
          <p:cNvPr id="196" name="System Components: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 defTabSz="1438655">
              <a:spcBef>
                <a:spcPts val="1400"/>
              </a:spcBef>
              <a:buClrTx/>
              <a:buSzTx/>
              <a:buNone/>
              <a:defRPr sz="2832"/>
            </a:pPr>
            <a:r>
              <a:t>System Components:</a:t>
            </a:r>
          </a:p>
          <a:p>
            <a:pPr lvl="1" marL="0" indent="269747" defTabSz="1438655">
              <a:spcBef>
                <a:spcPts val="1400"/>
              </a:spcBef>
              <a:buClrTx/>
              <a:buSzTx/>
              <a:buNone/>
              <a:defRPr sz="2832"/>
            </a:pPr>
            <a:r>
              <a:t>• Metrics Collector (current workload(RPS), latency, resource usage)</a:t>
            </a:r>
            <a:br/>
            <a:r>
              <a:t>• Probabilistic Forecast Module</a:t>
            </a:r>
            <a:br/>
            <a:r>
              <a:t>• Forecast Credibility Scoring Module</a:t>
            </a:r>
            <a:br/>
            <a:r>
              <a:t>• Contextual Event Interface</a:t>
            </a:r>
            <a:br/>
            <a:r>
              <a:t>• Risk-Aware Reinforcement Learning Agent</a:t>
            </a:r>
            <a:br/>
            <a:r>
              <a:t>• Cloud Environment (scaling target)</a:t>
            </a:r>
          </a:p>
          <a:p>
            <a:pPr marL="0" indent="0" defTabSz="1438655">
              <a:spcBef>
                <a:spcPts val="1400"/>
              </a:spcBef>
              <a:buClrTx/>
              <a:buSzTx/>
              <a:buNone/>
              <a:defRPr sz="2832"/>
            </a:pPr>
            <a:r>
              <a:t>Core idea:</a:t>
            </a:r>
          </a:p>
          <a:p>
            <a:pPr lvl="1" marL="0" indent="269747" defTabSz="1438655">
              <a:spcBef>
                <a:spcPts val="1400"/>
              </a:spcBef>
              <a:buClrTx/>
              <a:buSzTx/>
              <a:buNone/>
              <a:defRPr sz="2832"/>
            </a:pPr>
            <a:r>
              <a:t>Forecast output is a probability distribution.</a:t>
            </a:r>
            <a:br/>
            <a:r>
              <a:t>Forecast reliability is quantified.</a:t>
            </a:r>
            <a:br/>
            <a:r>
              <a:t>Both are included in the RL state.</a:t>
            </a:r>
            <a:br/>
            <a:r>
              <a:t>The agent learns to scale under uncertainty and contextual signals.</a:t>
            </a:r>
          </a:p>
          <a:p>
            <a:pPr lvl="1" marL="0" indent="269747" defTabSz="1438655">
              <a:spcBef>
                <a:spcPts val="1400"/>
              </a:spcBef>
              <a:buClrTx/>
              <a:buSzTx/>
              <a:buNone/>
              <a:defRPr sz="2832"/>
            </a:pPr>
          </a:p>
          <a:p>
            <a:pPr lvl="1" marL="0" indent="269747" defTabSz="1438655">
              <a:spcBef>
                <a:spcPts val="1400"/>
              </a:spcBef>
              <a:buClrTx/>
              <a:buSzTx/>
              <a:buNone/>
              <a:defRPr sz="2832"/>
            </a:pPr>
            <a:r>
              <a:t>Demo:</a:t>
            </a:r>
          </a:p>
          <a:p>
            <a:pPr lvl="1" marL="0" indent="269747" defTabSz="1438655">
              <a:spcBef>
                <a:spcPts val="1400"/>
              </a:spcBef>
              <a:buClrTx/>
              <a:buSzTx/>
              <a:buNone/>
              <a:defRPr sz="2832"/>
            </a:pPr>
            <a:r>
              <a:rPr u="sng">
                <a:hlinkClick r:id="rId2" invalidUrl="" action="" tgtFrame="" tooltip="" history="1" highlightClick="0" endSnd="0"/>
              </a:rPr>
              <a:t>https://amirrezaask.github.io/Context-aware-Forecast-augmented-Risk-aware-RL-Autoscaling/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Forecasting Layer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341120">
              <a:lnSpc>
                <a:spcPct val="90000"/>
              </a:lnSpc>
              <a:defRPr spc="-259" sz="8635">
                <a:latin typeface="+mj-lt"/>
                <a:ea typeface="+mj-ea"/>
                <a:cs typeface="+mj-cs"/>
                <a:sym typeface="Graphik"/>
              </a:defRPr>
            </a:lvl1pPr>
          </a:lstStyle>
          <a:p>
            <a:pPr/>
            <a:r>
              <a:t>Forecasting Layer</a:t>
            </a:r>
          </a:p>
        </p:txBody>
      </p:sp>
      <p:sp>
        <p:nvSpPr>
          <p:cNvPr id="199" name="Probabilistic and Event-Conditioned Forecasting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defTabSz="975335">
              <a:lnSpc>
                <a:spcPct val="90000"/>
              </a:lnSpc>
              <a:defRPr spc="-139" sz="4640">
                <a:gradFill flip="none" rotWithShape="1">
                  <a:gsLst>
                    <a:gs pos="0">
                      <a:srgbClr val="00E8FF"/>
                    </a:gs>
                    <a:gs pos="100000">
                      <a:srgbClr val="FF00F7"/>
                    </a:gs>
                  </a:gsLst>
                  <a:lin ang="3967761" scaled="0"/>
                </a:gradFill>
                <a:latin typeface="+mn-lt"/>
                <a:ea typeface="+mn-ea"/>
                <a:cs typeface="+mn-cs"/>
                <a:sym typeface="Graphik Semibold"/>
              </a:defRPr>
            </a:lvl1pPr>
          </a:lstStyle>
          <a:p>
            <a:pPr/>
            <a:r>
              <a:t>Probabilistic and Event-Conditioned Forecasting</a:t>
            </a:r>
            <a:endParaRPr>
              <a:latin typeface="+mj-lt"/>
              <a:ea typeface="+mj-ea"/>
              <a:cs typeface="+mj-cs"/>
              <a:sym typeface="Graphik"/>
            </a:endParaRPr>
          </a:p>
        </p:txBody>
      </p:sp>
      <p:sp>
        <p:nvSpPr>
          <p:cNvPr id="200" name="Multi-horizon workload prediction ( e.g Multiple time windows, next 5, 10, 15 minutes)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Multi-horizon workload prediction ( e.g Multiple time windows, next 5, 10, 15 minutes)</a:t>
            </a:r>
          </a:p>
          <a:p>
            <a:pPr/>
            <a:r>
              <a:t>Outputs workload quantiles (p10, p50, p90)</a:t>
            </a:r>
          </a:p>
          <a:p>
            <a:pPr/>
            <a:r>
              <a:t>Produces prediction intervals</a:t>
            </a:r>
          </a:p>
          <a:p>
            <a:pPr/>
            <a:r>
              <a:t>Incorporates contextual event inputs</a:t>
            </a:r>
          </a:p>
          <a:p>
            <a:pPr/>
            <a:r>
              <a:t>Continuously monitors calibration quality</a:t>
            </a:r>
          </a:p>
          <a:p>
            <a:pPr/>
            <a:r>
              <a:t>The model outputs a distribution, not a single predicted value.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Contextual Event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341120">
              <a:lnSpc>
                <a:spcPct val="90000"/>
              </a:lnSpc>
              <a:defRPr spc="-259" sz="8635">
                <a:latin typeface="+mj-lt"/>
                <a:ea typeface="+mj-ea"/>
                <a:cs typeface="+mj-cs"/>
                <a:sym typeface="Graphik"/>
              </a:defRPr>
            </a:lvl1pPr>
          </a:lstStyle>
          <a:p>
            <a:pPr/>
            <a:r>
              <a:t>Contextual Events</a:t>
            </a:r>
          </a:p>
        </p:txBody>
      </p:sp>
      <p:sp>
        <p:nvSpPr>
          <p:cNvPr id="203" name="Modeling Future Context Information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defTabSz="975335">
              <a:lnSpc>
                <a:spcPct val="90000"/>
              </a:lnSpc>
              <a:defRPr spc="-139" sz="4640">
                <a:gradFill flip="none" rotWithShape="1">
                  <a:gsLst>
                    <a:gs pos="0">
                      <a:srgbClr val="00E8FF"/>
                    </a:gs>
                    <a:gs pos="100000">
                      <a:srgbClr val="FF00F7"/>
                    </a:gs>
                  </a:gsLst>
                  <a:lin ang="3967761" scaled="0"/>
                </a:gradFill>
                <a:latin typeface="+mn-lt"/>
                <a:ea typeface="+mn-ea"/>
                <a:cs typeface="+mn-cs"/>
                <a:sym typeface="Graphik Semibold"/>
              </a:defRPr>
            </a:lvl1pPr>
          </a:lstStyle>
          <a:p>
            <a:pPr/>
            <a:r>
              <a:t>Modeling Future Context Information</a:t>
            </a:r>
            <a:endParaRPr>
              <a:latin typeface="+mj-lt"/>
              <a:ea typeface="+mj-ea"/>
              <a:cs typeface="+mj-cs"/>
              <a:sym typeface="Graphik"/>
            </a:endParaRPr>
          </a:p>
        </p:txBody>
      </p:sp>
      <p:sp>
        <p:nvSpPr>
          <p:cNvPr id="204" name="Structured event definition:…"/>
          <p:cNvSpPr txBox="1"/>
          <p:nvPr>
            <p:ph type="body" idx="1"/>
          </p:nvPr>
        </p:nvSpPr>
        <p:spPr>
          <a:xfrm>
            <a:off x="1270000" y="4292600"/>
            <a:ext cx="21844000" cy="8432800"/>
          </a:xfrm>
          <a:prstGeom prst="rect">
            <a:avLst/>
          </a:prstGeom>
        </p:spPr>
        <p:txBody>
          <a:bodyPr/>
          <a:lstStyle/>
          <a:p>
            <a:pPr marL="0" indent="0" defTabSz="2170176">
              <a:spcBef>
                <a:spcPts val="2100"/>
              </a:spcBef>
              <a:buClrTx/>
              <a:buSzTx/>
              <a:buNone/>
              <a:defRPr sz="4272"/>
            </a:pPr>
            <a:r>
              <a:t>Structured event definition:</a:t>
            </a:r>
          </a:p>
          <a:p>
            <a:pPr marL="0" indent="0" defTabSz="2170176">
              <a:spcBef>
                <a:spcPts val="2100"/>
              </a:spcBef>
              <a:buClrTx/>
              <a:buSzTx/>
              <a:buNone/>
              <a:defRPr sz="4272"/>
            </a:pPr>
            <a:r>
              <a:t>Event =</a:t>
            </a:r>
            <a:br/>
            <a:r>
              <a:t>(type, time window, scope, expected impact, probability, trust score)</a:t>
            </a:r>
          </a:p>
          <a:p>
            <a:pPr marL="0" indent="0" defTabSz="2170176">
              <a:spcBef>
                <a:spcPts val="2100"/>
              </a:spcBef>
              <a:buClrTx/>
              <a:buSzTx/>
              <a:buNone/>
              <a:defRPr sz="4272"/>
            </a:pPr>
            <a:r>
              <a:t>Examples:</a:t>
            </a:r>
          </a:p>
          <a:p>
            <a:pPr lvl="1" marL="0" indent="406908" defTabSz="2170176">
              <a:spcBef>
                <a:spcPts val="2100"/>
              </a:spcBef>
              <a:buClrTx/>
              <a:buSzTx/>
              <a:buNone/>
              <a:defRPr sz="4272"/>
            </a:pPr>
            <a:r>
              <a:t>• Marketing campaign</a:t>
            </a:r>
            <a:br/>
            <a:r>
              <a:t>• CI/CD deployment</a:t>
            </a:r>
            <a:br/>
            <a:r>
              <a:t>• Feature release</a:t>
            </a:r>
            <a:br/>
            <a:r>
              <a:t>• Maintenance window</a:t>
            </a:r>
          </a:p>
          <a:p>
            <a:pPr marL="0" indent="0" defTabSz="2170176">
              <a:spcBef>
                <a:spcPts val="2100"/>
              </a:spcBef>
              <a:buClrTx/>
              <a:buSzTx/>
              <a:buNone/>
              <a:defRPr sz="4272"/>
            </a:pPr>
            <a:r>
              <a:t>The agent receives contextual event signals but does not observe the true future workload.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Forecast Credibility Scoring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341120">
              <a:lnSpc>
                <a:spcPct val="90000"/>
              </a:lnSpc>
              <a:defRPr spc="-259" sz="8635">
                <a:latin typeface="+mj-lt"/>
                <a:ea typeface="+mj-ea"/>
                <a:cs typeface="+mj-cs"/>
                <a:sym typeface="Graphik"/>
              </a:defRPr>
            </a:lvl1pPr>
          </a:lstStyle>
          <a:p>
            <a:pPr/>
            <a:r>
              <a:t>Forecast Credibility Scoring</a:t>
            </a:r>
          </a:p>
        </p:txBody>
      </p:sp>
      <p:sp>
        <p:nvSpPr>
          <p:cNvPr id="207" name="Dynamic Trust Estimation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defTabSz="975335">
              <a:lnSpc>
                <a:spcPct val="90000"/>
              </a:lnSpc>
              <a:defRPr spc="-139" sz="4640">
                <a:gradFill flip="none" rotWithShape="1">
                  <a:gsLst>
                    <a:gs pos="0">
                      <a:srgbClr val="00E8FF"/>
                    </a:gs>
                    <a:gs pos="100000">
                      <a:srgbClr val="FF00F7"/>
                    </a:gs>
                  </a:gsLst>
                  <a:lin ang="3967761" scaled="0"/>
                </a:gradFill>
                <a:latin typeface="+mn-lt"/>
                <a:ea typeface="+mn-ea"/>
                <a:cs typeface="+mn-cs"/>
                <a:sym typeface="Graphik Semibold"/>
              </a:defRPr>
            </a:lvl1pPr>
          </a:lstStyle>
          <a:p>
            <a:pPr/>
            <a:r>
              <a:t>Dynamic Trust Estimation</a:t>
            </a:r>
            <a:endParaRPr>
              <a:latin typeface="+mj-lt"/>
              <a:ea typeface="+mj-ea"/>
              <a:cs typeface="+mj-cs"/>
              <a:sym typeface="Graphik"/>
            </a:endParaRPr>
          </a:p>
        </p:txBody>
      </p:sp>
      <p:sp>
        <p:nvSpPr>
          <p:cNvPr id="208" name="Forecast quality is evaluated online using: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>
              <a:buClrTx/>
              <a:buSzTx/>
              <a:buNone/>
            </a:pPr>
            <a:r>
              <a:t>Forecast quality is evaluated online using:</a:t>
            </a:r>
          </a:p>
          <a:p>
            <a:pPr lvl="1" marL="0" indent="457200">
              <a:buClrTx/>
              <a:buSzTx/>
              <a:buNone/>
            </a:pPr>
            <a:r>
              <a:t>• Prediction interval coverage error</a:t>
            </a:r>
            <a:br/>
            <a:r>
              <a:t>• Forecast bias</a:t>
            </a:r>
            <a:br/>
            <a:r>
              <a:t>• Interval width (sharpness)</a:t>
            </a:r>
            <a:br/>
            <a:r>
              <a:t>• Median absolute percentage error</a:t>
            </a:r>
          </a:p>
          <a:p>
            <a:pPr marL="0" indent="0">
              <a:buClrTx/>
              <a:buSzTx/>
              <a:buNone/>
            </a:pPr>
            <a:r>
              <a:t>These metrics are combined into a trust score in range [0,1].</a:t>
            </a:r>
          </a:p>
          <a:p>
            <a:pPr marL="0" indent="0">
              <a:buClrTx/>
              <a:buSzTx/>
              <a:buNone/>
            </a:pPr>
            <a:r>
              <a:t>This trust score becomes part of the RL state.</a:t>
            </a:r>
          </a:p>
          <a:p>
            <a:pPr marL="0" indent="0">
              <a:buClrTx/>
              <a:buSzTx/>
              <a:buNone/>
            </a:pPr>
            <a:r>
              <a:t>The agent learns when to rely on forecasts and when to discount them.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Decision Layer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341120">
              <a:lnSpc>
                <a:spcPct val="90000"/>
              </a:lnSpc>
              <a:defRPr spc="-259" sz="8635">
                <a:latin typeface="+mj-lt"/>
                <a:ea typeface="+mj-ea"/>
                <a:cs typeface="+mj-cs"/>
                <a:sym typeface="Graphik"/>
              </a:defRPr>
            </a:lvl1pPr>
          </a:lstStyle>
          <a:p>
            <a:pPr/>
            <a:r>
              <a:t>Decision Layer</a:t>
            </a:r>
          </a:p>
        </p:txBody>
      </p:sp>
      <p:sp>
        <p:nvSpPr>
          <p:cNvPr id="211" name="Risk-Aware Reinforcement Learning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defTabSz="975335">
              <a:lnSpc>
                <a:spcPct val="90000"/>
              </a:lnSpc>
              <a:defRPr spc="-139" sz="4640">
                <a:gradFill flip="none" rotWithShape="1">
                  <a:gsLst>
                    <a:gs pos="0">
                      <a:srgbClr val="00E8FF"/>
                    </a:gs>
                    <a:gs pos="100000">
                      <a:srgbClr val="FF00F7"/>
                    </a:gs>
                  </a:gsLst>
                  <a:lin ang="3967761" scaled="0"/>
                </a:gradFill>
                <a:latin typeface="+mn-lt"/>
                <a:ea typeface="+mn-ea"/>
                <a:cs typeface="+mn-cs"/>
                <a:sym typeface="Graphik Semibold"/>
              </a:defRPr>
            </a:lvl1pPr>
          </a:lstStyle>
          <a:p>
            <a:pPr/>
            <a:r>
              <a:t>Risk-Aware Reinforcement Learning</a:t>
            </a:r>
            <a:endParaRPr>
              <a:latin typeface="+mj-lt"/>
              <a:ea typeface="+mj-ea"/>
              <a:cs typeface="+mj-cs"/>
              <a:sym typeface="Graphik"/>
            </a:endParaRPr>
          </a:p>
        </p:txBody>
      </p:sp>
      <p:sp>
        <p:nvSpPr>
          <p:cNvPr id="212" name="Algorithm: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 defTabSz="1901951">
              <a:spcBef>
                <a:spcPts val="1800"/>
              </a:spcBef>
              <a:buClrTx/>
              <a:buSzTx/>
              <a:buNone/>
              <a:defRPr sz="3743"/>
            </a:pPr>
            <a:r>
              <a:t>Algorithm:</a:t>
            </a:r>
          </a:p>
          <a:p>
            <a:pPr lvl="1" marL="0" indent="356615" defTabSz="1901951">
              <a:spcBef>
                <a:spcPts val="1800"/>
              </a:spcBef>
              <a:buClrTx/>
              <a:buSzTx/>
              <a:buNone/>
              <a:defRPr sz="3743"/>
            </a:pPr>
            <a:r>
              <a:t>* Quantile Regression Deep Q-Network (QR-DQN)</a:t>
            </a:r>
          </a:p>
          <a:p>
            <a:pPr marL="0" indent="0" defTabSz="1901951">
              <a:spcBef>
                <a:spcPts val="1800"/>
              </a:spcBef>
              <a:buClrTx/>
              <a:buSzTx/>
              <a:buNone/>
              <a:defRPr sz="3743"/>
            </a:pPr>
            <a:r>
              <a:t>Reasons:</a:t>
            </a:r>
          </a:p>
          <a:p>
            <a:pPr lvl="1" marL="0" indent="356615" defTabSz="1901951">
              <a:spcBef>
                <a:spcPts val="1800"/>
              </a:spcBef>
              <a:buClrTx/>
              <a:buSzTx/>
              <a:buNone/>
              <a:defRPr sz="3743"/>
            </a:pPr>
            <a:r>
              <a:t>• Distributional value estimation</a:t>
            </a:r>
            <a:br/>
            <a:r>
              <a:t>• Supports risk-sensitive decision-making</a:t>
            </a:r>
            <a:br/>
            <a:r>
              <a:t>• Suitable for modeling SLA violation probability</a:t>
            </a:r>
          </a:p>
          <a:p>
            <a:pPr marL="0" indent="0" defTabSz="1901951">
              <a:spcBef>
                <a:spcPts val="1800"/>
              </a:spcBef>
              <a:buClrTx/>
              <a:buSzTx/>
              <a:buNone/>
              <a:defRPr sz="3743"/>
            </a:pPr>
            <a:r>
              <a:t>Objective function includes:</a:t>
            </a:r>
          </a:p>
          <a:p>
            <a:pPr lvl="1" marL="0" indent="356615" defTabSz="1901951">
              <a:spcBef>
                <a:spcPts val="1800"/>
              </a:spcBef>
              <a:buClrTx/>
              <a:buSzTx/>
              <a:buNone/>
              <a:defRPr sz="3743"/>
            </a:pPr>
            <a:r>
              <a:t>• Infrastructure cost</a:t>
            </a:r>
            <a:br/>
            <a:r>
              <a:t>• SLA violation probability</a:t>
            </a:r>
            <a:br/>
            <a:r>
              <a:t>• Scaling oscillation penalty</a:t>
            </a:r>
          </a:p>
          <a:p>
            <a:pPr marL="0" indent="0" defTabSz="1901951">
              <a:spcBef>
                <a:spcPts val="1800"/>
              </a:spcBef>
              <a:buClrTx/>
              <a:buSzTx/>
              <a:buNone/>
              <a:defRPr sz="3743"/>
            </a:pPr>
            <a:r>
              <a:t>The agent optimizes long-term performance under uncertainty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Risk-Aware Reinforcement Learning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341120">
              <a:lnSpc>
                <a:spcPct val="90000"/>
              </a:lnSpc>
              <a:defRPr spc="-259" sz="8635">
                <a:latin typeface="+mj-lt"/>
                <a:ea typeface="+mj-ea"/>
                <a:cs typeface="+mj-cs"/>
                <a:sym typeface="Graphik"/>
              </a:defRPr>
            </a:lvl1pPr>
          </a:lstStyle>
          <a:p>
            <a:pPr/>
            <a:r>
              <a:t>Risk-Aware Reinforcement Learning</a:t>
            </a:r>
          </a:p>
        </p:txBody>
      </p:sp>
      <p:sp>
        <p:nvSpPr>
          <p:cNvPr id="215" name="Decision-Making Beyond Average Performance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defTabSz="975335">
              <a:lnSpc>
                <a:spcPct val="90000"/>
              </a:lnSpc>
              <a:defRPr spc="-139" sz="4640">
                <a:gradFill flip="none" rotWithShape="1">
                  <a:gsLst>
                    <a:gs pos="0">
                      <a:srgbClr val="00E8FF"/>
                    </a:gs>
                    <a:gs pos="100000">
                      <a:srgbClr val="FF00F7"/>
                    </a:gs>
                  </a:gsLst>
                  <a:lin ang="3967761" scaled="0"/>
                </a:gradFill>
                <a:latin typeface="+mn-lt"/>
                <a:ea typeface="+mn-ea"/>
                <a:cs typeface="+mn-cs"/>
                <a:sym typeface="Graphik Semibold"/>
              </a:defRPr>
            </a:lvl1pPr>
          </a:lstStyle>
          <a:p>
            <a:pPr/>
            <a:r>
              <a:t>Decision-Making Beyond Average Performance</a:t>
            </a:r>
            <a:endParaRPr>
              <a:latin typeface="+mj-lt"/>
              <a:ea typeface="+mj-ea"/>
              <a:cs typeface="+mj-cs"/>
              <a:sym typeface="Graphik"/>
            </a:endParaRPr>
          </a:p>
        </p:txBody>
      </p:sp>
      <p:sp>
        <p:nvSpPr>
          <p:cNvPr id="216" name="Traditional RL Objective: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 defTabSz="2048255">
              <a:spcBef>
                <a:spcPts val="2000"/>
              </a:spcBef>
              <a:buClrTx/>
              <a:buSzTx/>
              <a:buNone/>
              <a:defRPr sz="4032"/>
            </a:pPr>
            <a:r>
              <a:t>Traditional RL Objective:</a:t>
            </a:r>
          </a:p>
          <a:p>
            <a:pPr lvl="1" marL="0" indent="384047" defTabSz="2048255">
              <a:spcBef>
                <a:spcPts val="2000"/>
              </a:spcBef>
              <a:buClrTx/>
              <a:buSzTx/>
              <a:buNone/>
              <a:defRPr sz="4032"/>
            </a:pPr>
            <a:r>
              <a:t>• Optimize expected (average) reward</a:t>
            </a:r>
            <a:br/>
            <a:r>
              <a:t>• Minimize average cost</a:t>
            </a:r>
            <a:br/>
            <a:r>
              <a:t>• Penalize SLA violations in expectation</a:t>
            </a:r>
          </a:p>
          <a:p>
            <a:pPr marL="0" indent="0" defTabSz="2048255">
              <a:spcBef>
                <a:spcPts val="2000"/>
              </a:spcBef>
              <a:buClrTx/>
              <a:buSzTx/>
              <a:buNone/>
              <a:defRPr sz="4032"/>
            </a:pPr>
            <a:r>
              <a:t>Limitation:</a:t>
            </a:r>
          </a:p>
          <a:p>
            <a:pPr lvl="1" marL="0" indent="384047" defTabSz="2048255">
              <a:spcBef>
                <a:spcPts val="2000"/>
              </a:spcBef>
              <a:buClrTx/>
              <a:buSzTx/>
              <a:buNone/>
              <a:defRPr sz="4032"/>
            </a:pPr>
            <a:r>
              <a:t>Average performance can hide rare but severe SLA violations.</a:t>
            </a:r>
          </a:p>
          <a:p>
            <a:pPr marL="0" indent="0" defTabSz="2048255">
              <a:spcBef>
                <a:spcPts val="2000"/>
              </a:spcBef>
              <a:buClrTx/>
              <a:buSzTx/>
              <a:buNone/>
              <a:defRPr sz="4032"/>
            </a:pPr>
            <a:r>
              <a:t>Example:</a:t>
            </a:r>
          </a:p>
          <a:p>
            <a:pPr lvl="1" marL="0" indent="384047" defTabSz="2048255">
              <a:spcBef>
                <a:spcPts val="2000"/>
              </a:spcBef>
              <a:buClrTx/>
              <a:buSzTx/>
              <a:buNone/>
              <a:defRPr sz="4032"/>
            </a:pPr>
            <a:r>
              <a:t>• Policy A: Low cost, occasional large SLA breaches</a:t>
            </a:r>
            <a:br/>
            <a:r>
              <a:t>• Policy B: Slightly higher cost, stable SLA compliance</a:t>
            </a:r>
          </a:p>
          <a:p>
            <a:pPr marL="0" indent="0" defTabSz="2048255">
              <a:spcBef>
                <a:spcPts val="2000"/>
              </a:spcBef>
              <a:buClrTx/>
              <a:buSzTx/>
              <a:buNone/>
              <a:defRPr sz="4032"/>
            </a:pPr>
            <a:r>
              <a:t>Expected-reward optimization may prefer Policy A.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What “Risk-Aware” Means in This Work"/>
          <p:cNvSpPr txBox="1"/>
          <p:nvPr>
            <p:ph type="title"/>
          </p:nvPr>
        </p:nvSpPr>
        <p:spPr>
          <a:xfrm>
            <a:off x="1270000" y="792774"/>
            <a:ext cx="21844000" cy="1557438"/>
          </a:xfrm>
          <a:prstGeom prst="rect">
            <a:avLst/>
          </a:prstGeom>
        </p:spPr>
        <p:txBody>
          <a:bodyPr anchor="ctr"/>
          <a:lstStyle>
            <a:lvl1pPr defTabSz="975335">
              <a:lnSpc>
                <a:spcPct val="90000"/>
              </a:lnSpc>
              <a:defRPr spc="-139" sz="4640">
                <a:gradFill flip="none" rotWithShape="1">
                  <a:gsLst>
                    <a:gs pos="0">
                      <a:srgbClr val="00E8FF"/>
                    </a:gs>
                    <a:gs pos="100000">
                      <a:srgbClr val="FF00F7"/>
                    </a:gs>
                  </a:gsLst>
                  <a:lin ang="3967761" scaled="0"/>
                </a:gradFill>
              </a:defRPr>
            </a:lvl1pPr>
          </a:lstStyle>
          <a:p>
            <a:pPr/>
            <a:r>
              <a:t>What “Risk-Aware” Means in This Work</a:t>
            </a:r>
          </a:p>
        </p:txBody>
      </p:sp>
      <p:sp>
        <p:nvSpPr>
          <p:cNvPr id="219" name="The agent considers the distribution of outcomes, not only the mean • Scaling decisions account for SLA violation probability • Tail behavior (worst-case performance) influences action selection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>
              <a:buClrTx/>
              <a:buSzTx/>
              <a:buNone/>
            </a:pPr>
            <a:r>
              <a:t>The agent considers the distribution of outcomes, not only the mean</a:t>
            </a:r>
            <a:br/>
            <a:r>
              <a:t>• Scaling decisions account for SLA violation probability</a:t>
            </a:r>
            <a:br/>
            <a:r>
              <a:t>• Tail behavior (worst-case performance) influences action selection</a:t>
            </a:r>
          </a:p>
          <a:p>
            <a:pPr marL="0" indent="0">
              <a:buClrTx/>
              <a:buSzTx/>
              <a:buNone/>
            </a:pPr>
            <a:r>
              <a:t>We use distributional RL (QR-DQN) to estimate return quantiles rather than a single expected value.</a:t>
            </a:r>
          </a:p>
          <a:p>
            <a:pPr marL="0" indent="0">
              <a:buClrTx/>
              <a:buSzTx/>
              <a:buNone/>
            </a:pPr>
            <a:r>
              <a:t>This allows the policy to:</a:t>
            </a:r>
          </a:p>
          <a:p>
            <a:pPr lvl="1" marL="0" indent="457200">
              <a:buClrTx/>
              <a:buSzTx/>
              <a:buNone/>
            </a:pPr>
            <a:r>
              <a:t>• Reduce probability of SLA breaches</a:t>
            </a:r>
            <a:br/>
            <a:r>
              <a:t>• Balance cost vs. violation risk</a:t>
            </a:r>
            <a:br/>
            <a:r>
              <a:t>• Make more stable scaling decisions under uncertainty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Innovatio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341120">
              <a:lnSpc>
                <a:spcPct val="90000"/>
              </a:lnSpc>
              <a:defRPr spc="-259" sz="8635">
                <a:latin typeface="+mj-lt"/>
                <a:ea typeface="+mj-ea"/>
                <a:cs typeface="+mj-cs"/>
                <a:sym typeface="Graphik"/>
              </a:defRPr>
            </a:lvl1pPr>
          </a:lstStyle>
          <a:p>
            <a:pPr/>
            <a:r>
              <a:t>Innovation</a:t>
            </a:r>
          </a:p>
        </p:txBody>
      </p:sp>
      <p:sp>
        <p:nvSpPr>
          <p:cNvPr id="222" name="Core Innovations of This Work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 defTabSz="975335">
              <a:lnSpc>
                <a:spcPct val="90000"/>
              </a:lnSpc>
              <a:defRPr spc="-139" sz="4640">
                <a:gradFill flip="none" rotWithShape="1">
                  <a:gsLst>
                    <a:gs pos="0">
                      <a:srgbClr val="00E8FF"/>
                    </a:gs>
                    <a:gs pos="100000">
                      <a:srgbClr val="FF00F7"/>
                    </a:gs>
                  </a:gsLst>
                  <a:lin ang="3967761" scaled="0"/>
                </a:gradFill>
                <a:latin typeface="+mn-lt"/>
                <a:ea typeface="+mn-ea"/>
                <a:cs typeface="+mn-cs"/>
                <a:sym typeface="Graphik Semibold"/>
              </a:defRPr>
            </a:pPr>
            <a:r>
              <a:t>Core Innovations of This Work</a:t>
            </a:r>
            <a:endParaRPr>
              <a:latin typeface="+mj-lt"/>
              <a:ea typeface="+mj-ea"/>
              <a:cs typeface="+mj-cs"/>
              <a:sym typeface="Graphik"/>
            </a:endParaRPr>
          </a:p>
          <a:p>
            <a:pPr marL="1283546" indent="-1227666" defTabSz="975335">
              <a:lnSpc>
                <a:spcPct val="90000"/>
              </a:lnSpc>
              <a:buClr>
                <a:srgbClr val="FFFFFF"/>
              </a:buClr>
              <a:buSzPct val="100000"/>
              <a:buFont typeface="Times Roman"/>
              <a:buAutoNum type="arabicPeriod" startAt="1"/>
              <a:defRPr spc="-139" sz="4640">
                <a:gradFill flip="none" rotWithShape="1">
                  <a:gsLst>
                    <a:gs pos="0">
                      <a:srgbClr val="00E8FF"/>
                    </a:gs>
                    <a:gs pos="100000">
                      <a:srgbClr val="FF00F7"/>
                    </a:gs>
                  </a:gsLst>
                  <a:lin ang="3967761" scaled="0"/>
                </a:gradFill>
                <a:latin typeface="+mn-lt"/>
                <a:ea typeface="+mn-ea"/>
                <a:cs typeface="+mn-cs"/>
                <a:sym typeface="Graphik Semibold"/>
              </a:defRPr>
            </a:pPr>
          </a:p>
        </p:txBody>
      </p:sp>
      <p:sp>
        <p:nvSpPr>
          <p:cNvPr id="223" name="Forecast Credibility as RL State Featur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 defTabSz="1438655">
              <a:spcBef>
                <a:spcPts val="1400"/>
              </a:spcBef>
              <a:buClrTx/>
              <a:buSzTx/>
              <a:buNone/>
              <a:defRPr sz="2832"/>
            </a:pPr>
            <a:r>
              <a:t>Forecast Credibility as RL State Feature</a:t>
            </a:r>
          </a:p>
          <a:p>
            <a:pPr marL="831722" indent="-749299" defTabSz="1438655">
              <a:spcBef>
                <a:spcPts val="1400"/>
              </a:spcBef>
              <a:buFont typeface="Times Roman"/>
              <a:defRPr sz="2832"/>
            </a:pPr>
            <a:r>
              <a:t>Forecasts are not treated as deterministic values</a:t>
            </a:r>
          </a:p>
          <a:p>
            <a:pPr marL="831722" indent="-749299" defTabSz="1438655">
              <a:spcBef>
                <a:spcPts val="1400"/>
              </a:spcBef>
              <a:buFont typeface="Times Roman"/>
              <a:defRPr sz="2832"/>
            </a:pPr>
            <a:r>
              <a:t>Online credibility scoring quantifies trust</a:t>
            </a:r>
          </a:p>
          <a:p>
            <a:pPr marL="831722" indent="-749299" defTabSz="1438655">
              <a:spcBef>
                <a:spcPts val="1400"/>
              </a:spcBef>
              <a:buFont typeface="Times Roman"/>
              <a:defRPr sz="2832"/>
            </a:pPr>
            <a:r>
              <a:t>RL agent learns when to rely on predictions</a:t>
            </a:r>
          </a:p>
          <a:p>
            <a:pPr marL="0" indent="0" defTabSz="1438655">
              <a:spcBef>
                <a:spcPts val="1400"/>
              </a:spcBef>
              <a:buClrTx/>
              <a:buSzTx/>
              <a:buNone/>
              <a:defRPr sz="2832"/>
            </a:pPr>
            <a:r>
              <a:t>Belief-Based Autoscaling</a:t>
            </a:r>
          </a:p>
          <a:p>
            <a:pPr marL="831722" indent="-749299" defTabSz="1438655">
              <a:spcBef>
                <a:spcPts val="1400"/>
              </a:spcBef>
              <a:buFont typeface="Times Roman"/>
              <a:defRPr sz="2832"/>
            </a:pPr>
            <a:r>
              <a:t>Workload forecasts represented as probabilistic quantiles</a:t>
            </a:r>
          </a:p>
          <a:p>
            <a:pPr marL="831722" indent="-749299" defTabSz="1438655">
              <a:spcBef>
                <a:spcPts val="1400"/>
              </a:spcBef>
              <a:buFont typeface="Times Roman"/>
              <a:defRPr sz="2832"/>
            </a:pPr>
            <a:r>
              <a:t>Decision-making operates on uncertainty, not point estimates</a:t>
            </a:r>
          </a:p>
          <a:p>
            <a:pPr marL="0" indent="0" defTabSz="1438655">
              <a:spcBef>
                <a:spcPts val="1400"/>
              </a:spcBef>
              <a:buClrTx/>
              <a:buSzTx/>
              <a:buNone/>
              <a:defRPr sz="2832"/>
            </a:pPr>
            <a:r>
              <a:t>Risk-Aware Objective</a:t>
            </a:r>
          </a:p>
          <a:p>
            <a:pPr marL="831722" indent="-749299" defTabSz="1438655">
              <a:spcBef>
                <a:spcPts val="1400"/>
              </a:spcBef>
              <a:buFont typeface="Times Roman"/>
              <a:defRPr sz="2832"/>
            </a:pPr>
            <a:r>
              <a:t>SLA violation probability modeled explicitly</a:t>
            </a:r>
          </a:p>
          <a:p>
            <a:pPr marL="831722" indent="-749299" defTabSz="1438655">
              <a:spcBef>
                <a:spcPts val="1400"/>
              </a:spcBef>
              <a:buFont typeface="Times Roman"/>
              <a:defRPr sz="2832"/>
            </a:pPr>
            <a:r>
              <a:t>Decision policy optimized under risk, not only average reward</a:t>
            </a:r>
          </a:p>
          <a:p>
            <a:pPr marL="0" indent="0" defTabSz="1438655">
              <a:spcBef>
                <a:spcPts val="1400"/>
              </a:spcBef>
              <a:buClrTx/>
              <a:buSzTx/>
              <a:buNone/>
              <a:defRPr sz="2832"/>
            </a:pPr>
            <a:r>
              <a:t>Unified Architecture</a:t>
            </a:r>
          </a:p>
          <a:p>
            <a:pPr marL="831722" indent="-749299" defTabSz="1438655">
              <a:spcBef>
                <a:spcPts val="1400"/>
              </a:spcBef>
              <a:buFont typeface="Times Roman"/>
              <a:defRPr sz="2832"/>
            </a:pPr>
            <a:r>
              <a:t>Forecasting + credibility scoring + RL integrated into a single decision framework</a:t>
            </a:r>
          </a:p>
          <a:p>
            <a:pPr marL="831722" indent="-749299" defTabSz="1438655">
              <a:spcBef>
                <a:spcPts val="1400"/>
              </a:spcBef>
              <a:buFont typeface="Times Roman"/>
              <a:defRPr sz="2832"/>
            </a:pPr>
            <a:r>
              <a:t>Unlike [1] (forecast-only) and [2] (reactive RL), this combines future awareness with uncertainty reasoning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Evaluation Strategy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341120">
              <a:lnSpc>
                <a:spcPct val="90000"/>
              </a:lnSpc>
              <a:defRPr spc="-259" sz="8635">
                <a:latin typeface="+mj-lt"/>
                <a:ea typeface="+mj-ea"/>
                <a:cs typeface="+mj-cs"/>
                <a:sym typeface="Graphik"/>
              </a:defRPr>
            </a:lvl1pPr>
          </a:lstStyle>
          <a:p>
            <a:pPr/>
            <a:r>
              <a:t>Evaluation Strategy</a:t>
            </a:r>
          </a:p>
        </p:txBody>
      </p:sp>
      <p:sp>
        <p:nvSpPr>
          <p:cNvPr id="226" name="Experimental Setup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defTabSz="975335">
              <a:lnSpc>
                <a:spcPct val="90000"/>
              </a:lnSpc>
              <a:defRPr spc="-139" sz="4640">
                <a:gradFill flip="none" rotWithShape="1">
                  <a:gsLst>
                    <a:gs pos="0">
                      <a:srgbClr val="00E8FF"/>
                    </a:gs>
                    <a:gs pos="100000">
                      <a:srgbClr val="FF00F7"/>
                    </a:gs>
                  </a:gsLst>
                  <a:lin ang="3967761" scaled="0"/>
                </a:gradFill>
                <a:latin typeface="+mn-lt"/>
                <a:ea typeface="+mn-ea"/>
                <a:cs typeface="+mn-cs"/>
                <a:sym typeface="Graphik Semibold"/>
              </a:defRPr>
            </a:lvl1pPr>
          </a:lstStyle>
          <a:p>
            <a:pPr/>
            <a:r>
              <a:t>Experimental Setup</a:t>
            </a:r>
            <a:endParaRPr>
              <a:latin typeface="+mj-lt"/>
              <a:ea typeface="+mj-ea"/>
              <a:cs typeface="+mj-cs"/>
              <a:sym typeface="Graphik"/>
            </a:endParaRPr>
          </a:p>
        </p:txBody>
      </p:sp>
      <p:sp>
        <p:nvSpPr>
          <p:cNvPr id="227" name="Workload Data: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 defTabSz="1438655">
              <a:spcBef>
                <a:spcPts val="1400"/>
              </a:spcBef>
              <a:buClrTx/>
              <a:buSzTx/>
              <a:buNone/>
              <a:defRPr sz="3126"/>
            </a:pPr>
            <a:r>
              <a:t>Workload Data:</a:t>
            </a:r>
          </a:p>
          <a:p>
            <a:pPr lvl="1" marL="0" indent="269747" defTabSz="1438655">
              <a:spcBef>
                <a:spcPts val="1400"/>
              </a:spcBef>
              <a:buClrTx/>
              <a:buSzTx/>
              <a:buNone/>
              <a:defRPr sz="3126"/>
            </a:pPr>
            <a:r>
              <a:t>• Real cluster traces (Google Borg / Alibaba / Azure datasets)</a:t>
            </a:r>
            <a:br/>
            <a:r>
              <a:t>• Historical workload metrics used for forecasting and scaling evaluation</a:t>
            </a:r>
          </a:p>
          <a:p>
            <a:pPr marL="0" indent="0" defTabSz="1438655">
              <a:spcBef>
                <a:spcPts val="1400"/>
              </a:spcBef>
              <a:buClrTx/>
              <a:buSzTx/>
              <a:buNone/>
              <a:defRPr sz="3126"/>
            </a:pPr>
            <a:r>
              <a:t>Experimental Design:</a:t>
            </a:r>
          </a:p>
          <a:p>
            <a:pPr lvl="1" marL="0" indent="269747" defTabSz="1438655">
              <a:spcBef>
                <a:spcPts val="1400"/>
              </a:spcBef>
              <a:buClrTx/>
              <a:buSzTx/>
              <a:buNone/>
              <a:defRPr sz="3126"/>
            </a:pPr>
            <a:r>
              <a:t>• Train forecasting model on historical workload traces</a:t>
            </a:r>
            <a:br/>
            <a:r>
              <a:t>• Compute forecast credibility metrics online</a:t>
            </a:r>
            <a:br/>
            <a:r>
              <a:t>• Train RL agent using forecast quantiles + credibility score</a:t>
            </a:r>
            <a:br/>
            <a:r>
              <a:t>• Compare against baseline approaches</a:t>
            </a:r>
          </a:p>
          <a:p>
            <a:pPr marL="0" indent="0" defTabSz="1438655">
              <a:spcBef>
                <a:spcPts val="1400"/>
              </a:spcBef>
              <a:buClrTx/>
              <a:buSzTx/>
              <a:buNone/>
              <a:defRPr sz="3126"/>
            </a:pPr>
            <a:r>
              <a:t>Evaluation Metrics:</a:t>
            </a:r>
          </a:p>
          <a:p>
            <a:pPr lvl="1" marL="0" indent="269747" defTabSz="1438655">
              <a:spcBef>
                <a:spcPts val="1400"/>
              </a:spcBef>
              <a:buClrTx/>
              <a:buSzTx/>
              <a:buNone/>
              <a:defRPr sz="3126"/>
            </a:pPr>
            <a:r>
              <a:t>• SLA violation rate</a:t>
            </a:r>
            <a:br/>
            <a:r>
              <a:t>• Infrastructure cost</a:t>
            </a:r>
            <a:br/>
            <a:r>
              <a:t>• Resource utilization efficiency</a:t>
            </a:r>
            <a:br/>
            <a:r>
              <a:t>• Scaling stability (oscillation)</a:t>
            </a:r>
            <a:br/>
            <a:r>
              <a:t>• Forecast calibration quality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Baselines: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>
              <a:buClrTx/>
              <a:buSzTx/>
              <a:buNone/>
              <a:defRPr sz="4600"/>
            </a:pPr>
            <a:r>
              <a:t>Baselines:</a:t>
            </a:r>
          </a:p>
          <a:p>
            <a:pPr marL="1409700" indent="-1270000">
              <a:buFont typeface="Times Roman"/>
              <a:buAutoNum type="arabicPeriod" startAt="1"/>
              <a:defRPr sz="4600"/>
            </a:pPr>
            <a:r>
              <a:t>Reactive RL autoscaler [2]</a:t>
            </a:r>
          </a:p>
          <a:p>
            <a:pPr marL="1409700" indent="-1270000">
              <a:buFont typeface="Times Roman"/>
              <a:buAutoNum type="arabicPeriod" startAt="1"/>
              <a:defRPr sz="4600"/>
            </a:pPr>
            <a:r>
              <a:t>Forecast-based proactive autoscaler [1]</a:t>
            </a:r>
          </a:p>
          <a:p>
            <a:pPr marL="1409700" indent="-1270000">
              <a:buFont typeface="Times Roman"/>
              <a:buAutoNum type="arabicPeriod" startAt="1"/>
              <a:defRPr sz="4600"/>
            </a:pPr>
            <a:r>
              <a:t>Proposed risk-aware forecast-augmented RL</a:t>
            </a:r>
          </a:p>
          <a:p>
            <a:pPr marL="0" indent="0">
              <a:buClrTx/>
              <a:buSzTx/>
              <a:buNone/>
              <a:defRPr sz="4600"/>
            </a:pPr>
            <a:r>
              <a:t>All models evaluated under identical workload traces.</a:t>
            </a:r>
          </a:p>
        </p:txBody>
      </p:sp>
      <p:sp>
        <p:nvSpPr>
          <p:cNvPr id="230" name="Evaluation Strategy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341120">
              <a:lnSpc>
                <a:spcPct val="90000"/>
              </a:lnSpc>
              <a:defRPr spc="-259" sz="8635">
                <a:latin typeface="+mj-lt"/>
                <a:ea typeface="+mj-ea"/>
                <a:cs typeface="+mj-cs"/>
                <a:sym typeface="Graphik"/>
              </a:defRPr>
            </a:lvl1pPr>
          </a:lstStyle>
          <a:p>
            <a:pPr/>
            <a:r>
              <a:t>Evaluation Strategy</a:t>
            </a:r>
          </a:p>
        </p:txBody>
      </p:sp>
      <p:sp>
        <p:nvSpPr>
          <p:cNvPr id="231" name="Experimental Setup"/>
          <p:cNvSpPr txBox="1"/>
          <p:nvPr/>
        </p:nvSpPr>
        <p:spPr>
          <a:xfrm>
            <a:off x="1270000" y="2133600"/>
            <a:ext cx="21844000" cy="1016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algn="ctr" defTabSz="975335">
              <a:lnSpc>
                <a:spcPct val="90000"/>
              </a:lnSpc>
              <a:spcBef>
                <a:spcPts val="0"/>
              </a:spcBef>
              <a:defRPr spc="-139" sz="4640">
                <a:gradFill flip="none" rotWithShape="1">
                  <a:gsLst>
                    <a:gs pos="0">
                      <a:srgbClr val="00E8FF"/>
                    </a:gs>
                    <a:gs pos="100000">
                      <a:srgbClr val="FF00F7"/>
                    </a:gs>
                  </a:gsLst>
                  <a:lin ang="3967761" scaled="0"/>
                </a:gradFill>
                <a:latin typeface="+mn-lt"/>
                <a:ea typeface="+mn-ea"/>
                <a:cs typeface="+mn-cs"/>
                <a:sym typeface="Graphik Semibold"/>
              </a:defRPr>
            </a:lvl1pPr>
          </a:lstStyle>
          <a:p>
            <a:pPr/>
            <a:r>
              <a:t>Experimental Setup</a:t>
            </a:r>
            <a:endParaRPr>
              <a:latin typeface="+mj-lt"/>
              <a:ea typeface="+mj-ea"/>
              <a:cs typeface="+mj-cs"/>
              <a:sym typeface="Graphik"/>
            </a:endParaR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Expected Contribution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defTabSz="975360">
              <a:lnSpc>
                <a:spcPct val="90000"/>
              </a:lnSpc>
              <a:defRPr spc="-188" sz="6280">
                <a:latin typeface="+mj-lt"/>
                <a:ea typeface="+mj-ea"/>
                <a:cs typeface="+mj-cs"/>
                <a:sym typeface="Graphik"/>
              </a:defRPr>
            </a:pPr>
            <a:r>
              <a:t>Expected Contributions</a:t>
            </a:r>
          </a:p>
          <a:p>
            <a:pPr defTabSz="975360">
              <a:lnSpc>
                <a:spcPct val="90000"/>
              </a:lnSpc>
              <a:defRPr spc="-188" sz="6280">
                <a:latin typeface="+mj-lt"/>
                <a:ea typeface="+mj-ea"/>
                <a:cs typeface="+mj-cs"/>
                <a:sym typeface="Graphik"/>
              </a:defRPr>
            </a:pPr>
          </a:p>
        </p:txBody>
      </p:sp>
      <p:sp>
        <p:nvSpPr>
          <p:cNvPr id="234" name="Research Contributions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defTabSz="975335">
              <a:lnSpc>
                <a:spcPct val="90000"/>
              </a:lnSpc>
              <a:defRPr spc="-139" sz="4640">
                <a:gradFill flip="none" rotWithShape="1">
                  <a:gsLst>
                    <a:gs pos="0">
                      <a:srgbClr val="00E8FF"/>
                    </a:gs>
                    <a:gs pos="100000">
                      <a:srgbClr val="FF00F7"/>
                    </a:gs>
                  </a:gsLst>
                  <a:lin ang="3967761" scaled="0"/>
                </a:gradFill>
                <a:latin typeface="+mn-lt"/>
                <a:ea typeface="+mn-ea"/>
                <a:cs typeface="+mn-cs"/>
                <a:sym typeface="Graphik Semibold"/>
              </a:defRPr>
            </a:lvl1pPr>
          </a:lstStyle>
          <a:p>
            <a:pPr/>
            <a:r>
              <a:t>Research Contributions</a:t>
            </a:r>
            <a:endParaRPr>
              <a:latin typeface="+mj-lt"/>
              <a:ea typeface="+mj-ea"/>
              <a:cs typeface="+mj-cs"/>
              <a:sym typeface="Graphik"/>
            </a:endParaRPr>
          </a:p>
        </p:txBody>
      </p:sp>
      <p:sp>
        <p:nvSpPr>
          <p:cNvPr id="235" name="• Integration of forecast credibility into RL stat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>
              <a:buClrTx/>
              <a:buSzTx/>
              <a:buNone/>
            </a:pPr>
            <a:r>
              <a:t>• Integration of forecast credibility into RL state</a:t>
            </a:r>
          </a:p>
          <a:p>
            <a:pPr marL="0" indent="0">
              <a:buClrTx/>
              <a:buSzTx/>
              <a:buNone/>
            </a:pPr>
            <a:r>
              <a:t>• Structured contextual event modeling for autoscaling</a:t>
            </a:r>
          </a:p>
          <a:p>
            <a:pPr marL="0" indent="0">
              <a:buClrTx/>
              <a:buSzTx/>
              <a:buNone/>
            </a:pPr>
            <a:r>
              <a:t>• Explicit risk-aware scaling objective</a:t>
            </a:r>
          </a:p>
          <a:p>
            <a:pPr marL="0" indent="0">
              <a:buClrTx/>
              <a:buSzTx/>
              <a:buNone/>
            </a:pPr>
            <a:r>
              <a:t>• Realistic evaluation with contextual event simulation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Reference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References</a:t>
            </a:r>
          </a:p>
        </p:txBody>
      </p:sp>
      <p:sp>
        <p:nvSpPr>
          <p:cNvPr id="238" name="[1]   Theodoropoulos, T., Patel, Y. S., Zdun, U., Townend, P., Korontanis, I., Makris, A., &amp; Tserpes, K., “GraphOpticon: A global proactive horizontal autoscaler for improved service performance &amp; resource consumption,” Future Generation Computer Systems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 defTabSz="1487424">
              <a:spcBef>
                <a:spcPts val="1400"/>
              </a:spcBef>
              <a:buClrTx/>
              <a:buSzTx/>
              <a:buNone/>
              <a:defRPr sz="2928"/>
            </a:pPr>
            <a:r>
              <a:t> </a:t>
            </a:r>
            <a:endParaRPr b="1"/>
          </a:p>
          <a:p>
            <a:pPr marL="0" indent="0" defTabSz="1487424">
              <a:spcBef>
                <a:spcPts val="1400"/>
              </a:spcBef>
              <a:buClrTx/>
              <a:buSzTx/>
              <a:buNone/>
              <a:defRPr sz="2928"/>
            </a:pPr>
            <a:r>
              <a:t>[1]</a:t>
            </a:r>
            <a:r>
              <a:rPr b="1"/>
              <a:t> </a:t>
            </a:r>
            <a:r>
              <a:rPr sz="569">
                <a:latin typeface="Times New Roman"/>
                <a:ea typeface="Times New Roman"/>
                <a:cs typeface="Times New Roman"/>
                <a:sym typeface="Times New Roman"/>
              </a:rPr>
              <a:t>  </a:t>
            </a:r>
            <a:r>
              <a:t>Theodoropoulos, T., Patel, Y. S., Zdun, U., Townend, P., Korontanis, I., Makris, A., &amp; Tserpes, K., “GraphOpticon: A global proactive horizontal autoscaler for improved service performance &amp; resource consumption,” Future Generation Computer Systems, vol. 174, art. no. 107926, 2026, doi:10.1016/j.future.2025.107926</a:t>
            </a:r>
            <a:endParaRPr b="1"/>
          </a:p>
          <a:p>
            <a:pPr marL="0" indent="0" defTabSz="1487424">
              <a:spcBef>
                <a:spcPts val="1400"/>
              </a:spcBef>
              <a:buClrTx/>
              <a:buSzTx/>
              <a:buNone/>
              <a:defRPr sz="2928"/>
            </a:pPr>
            <a:r>
              <a:t>[2].</a:t>
            </a:r>
            <a:r>
              <a:rPr sz="569">
                <a:latin typeface="Times New Roman"/>
                <a:ea typeface="Times New Roman"/>
                <a:cs typeface="Times New Roman"/>
                <a:sym typeface="Times New Roman"/>
              </a:rPr>
              <a:t>    </a:t>
            </a:r>
            <a:r>
              <a:t>Song, S., Pan, L., &amp; Liu, S., “A Q-learning based auto-scaling approach for provisioning big data analysis services in cloud environments,” Future Generation Computer Systems, vol. 154, pp. 140–150, 2024, doi:10.1016/j.future.2023.10.003.</a:t>
            </a:r>
            <a:endParaRPr sz="976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indent="0" defTabSz="1487424">
              <a:spcBef>
                <a:spcPts val="1400"/>
              </a:spcBef>
              <a:buClrTx/>
              <a:buSzTx/>
              <a:buNone/>
              <a:defRPr sz="2928"/>
            </a:pPr>
            <a:r>
              <a:t>[3].</a:t>
            </a:r>
            <a:r>
              <a:rPr sz="569">
                <a:latin typeface="Times New Roman"/>
                <a:ea typeface="Times New Roman"/>
                <a:cs typeface="Times New Roman"/>
                <a:sym typeface="Times New Roman"/>
              </a:rPr>
              <a:t>    </a:t>
            </a:r>
            <a:r>
              <a:t>Ahmad, H., Treude, C., Wagner, M., &amp; Szabo, C., “Towards resource-efficient reactive and proactive auto-scaling for microservice architectures,” Journal of Systems and Software, vol. 225, art. no. 112390, 2025, doi:10.1016/j.jss.2025.112390.</a:t>
            </a:r>
            <a:endParaRPr sz="976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indent="0" defTabSz="1487424">
              <a:spcBef>
                <a:spcPts val="1400"/>
              </a:spcBef>
              <a:buClrTx/>
              <a:buSzTx/>
              <a:buNone/>
              <a:defRPr sz="2928"/>
            </a:pPr>
            <a:r>
              <a:t>[4].</a:t>
            </a:r>
            <a:r>
              <a:rPr sz="569">
                <a:latin typeface="Times New Roman"/>
                <a:ea typeface="Times New Roman"/>
                <a:cs typeface="Times New Roman"/>
                <a:sym typeface="Times New Roman"/>
              </a:rPr>
              <a:t>    </a:t>
            </a:r>
            <a:r>
              <a:t>Zou, D., Lu, W., Zhu, Z., Lu, X., Zhou, J., Wang, X., Liu, K., Wang, K., Sun, R., &amp; Wang, H., “OptScaler: A collaborative framework for robust autoscaling in the cloud,” Proc. VLDB Endowment, vol. 17, no. 12, pp. 4233–4246, 2024, doi:10.14778/3685800.3685829.</a:t>
            </a:r>
            <a:endParaRPr sz="976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indent="0" defTabSz="1487424">
              <a:spcBef>
                <a:spcPts val="1400"/>
              </a:spcBef>
              <a:buClrTx/>
              <a:buSzTx/>
              <a:buNone/>
              <a:defRPr sz="2928"/>
            </a:pPr>
            <a:r>
              <a:t>[5].</a:t>
            </a:r>
            <a:r>
              <a:rPr sz="569">
                <a:latin typeface="Times New Roman"/>
                <a:ea typeface="Times New Roman"/>
                <a:cs typeface="Times New Roman"/>
                <a:sym typeface="Times New Roman"/>
              </a:rPr>
              <a:t>    </a:t>
            </a:r>
            <a:r>
              <a:t>Pan, Y., Wang, Y., Zhang, Y., Yang, S. B., Cheng, Y., Chen, P., Guo, C., Wen, Q., Tian, X., Dou, Y., Zhou, Z., Yang, C., Zhou, A., &amp; Yang, B., “MagicScaler: Uncertainty-aware predictive autoscaling,” Engineering Applications of Artificial Intelligence, vol. 128, art. no. 107530, 2024, doi:10.1016/j.engappai.2023.107530.</a:t>
            </a:r>
            <a:endParaRPr sz="976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Reference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References</a:t>
            </a:r>
          </a:p>
        </p:txBody>
      </p:sp>
      <p:sp>
        <p:nvSpPr>
          <p:cNvPr id="241" name="[6].    Tutuncuoglu, B. T., “Predictive load resilience: AI-based traffic anticipation and autonomous scaling in web hosting infrastructure,” SSRN Electron. J., Jul. 24, 2025, doi:10.2139/ssrn.5343115.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 defTabSz="1341120">
              <a:spcBef>
                <a:spcPts val="1300"/>
              </a:spcBef>
              <a:buClrTx/>
              <a:buSzTx/>
              <a:buNone/>
              <a:defRPr sz="2640"/>
            </a:pPr>
            <a:r>
              <a:t>[6].</a:t>
            </a:r>
            <a:r>
              <a:rPr sz="513">
                <a:latin typeface="Times New Roman"/>
                <a:ea typeface="Times New Roman"/>
                <a:cs typeface="Times New Roman"/>
                <a:sym typeface="Times New Roman"/>
              </a:rPr>
              <a:t>    </a:t>
            </a:r>
            <a:r>
              <a:t>Tutuncuoglu, B. T., “Predictive load resilience: AI-based traffic anticipation and autonomous scaling in web hosting infrastructure,” SSRN Electron. J., Jul. 24, 2025, doi:10.2139/ssrn.5343115.</a:t>
            </a:r>
            <a:endParaRPr sz="88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indent="0" defTabSz="1341120">
              <a:spcBef>
                <a:spcPts val="1300"/>
              </a:spcBef>
              <a:buClrTx/>
              <a:buSzTx/>
              <a:buNone/>
              <a:defRPr sz="2640"/>
            </a:pPr>
            <a:r>
              <a:t>[7].</a:t>
            </a:r>
            <a:r>
              <a:rPr sz="513">
                <a:latin typeface="Times New Roman"/>
                <a:ea typeface="Times New Roman"/>
                <a:cs typeface="Times New Roman"/>
                <a:sym typeface="Times New Roman"/>
              </a:rPr>
              <a:t>    </a:t>
            </a:r>
            <a:r>
              <a:t>Liang, P., Xun, Y., Cai, J., &amp; Yang, H., “Autoscaling of microservice resources based on dense connectivity spatio-temporal GNN and Q-learning,” Future Generation Computer Systems, vol. 174, pp. 140–150, 2026, doi:10.1016/j.future.2025.03.044.</a:t>
            </a:r>
            <a:endParaRPr sz="88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indent="0" defTabSz="1341120">
              <a:spcBef>
                <a:spcPts val="1300"/>
              </a:spcBef>
              <a:buClrTx/>
              <a:buSzTx/>
              <a:buNone/>
              <a:defRPr sz="2640"/>
            </a:pPr>
            <a:r>
              <a:t>[8].</a:t>
            </a:r>
            <a:r>
              <a:rPr sz="513">
                <a:latin typeface="Times New Roman"/>
                <a:ea typeface="Times New Roman"/>
                <a:cs typeface="Times New Roman"/>
                <a:sym typeface="Times New Roman"/>
              </a:rPr>
              <a:t>    </a:t>
            </a:r>
            <a:r>
              <a:t>Li, H., Rao, W., Hu, B., Tian, Y., &amp; Shen, J., “Energy-aware elastic scaling algorithm for microservices in Kubernetes clouds,” Journal of Network and Computer Applications, vol. 242, art. no. 104218, 2025, doi:10.1016/j.jnca.2025.104218.</a:t>
            </a:r>
            <a:endParaRPr sz="88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indent="0" defTabSz="1341120">
              <a:spcBef>
                <a:spcPts val="1300"/>
              </a:spcBef>
              <a:buClrTx/>
              <a:buSzTx/>
              <a:buNone/>
              <a:defRPr sz="2640"/>
            </a:pPr>
            <a:r>
              <a:t>[9].</a:t>
            </a:r>
            <a:r>
              <a:rPr sz="513">
                <a:latin typeface="Times New Roman"/>
                <a:ea typeface="Times New Roman"/>
                <a:cs typeface="Times New Roman"/>
                <a:sym typeface="Times New Roman"/>
              </a:rPr>
              <a:t>    </a:t>
            </a:r>
            <a:r>
              <a:t>Do, T. V., Do, N. H., Rotter, C., Lakshman, T. V., Biro, C., &amp; Bérczes, T., “Properties of horizontal pod autoscaling algorithms and application for scaling cloud-native network functions,” IEEE Trans. Netw. Serv. Manag., vol. 22, no. 2, pp. 1889–1902, 2025, doi:10.1109/TNSM.2025.3532121.</a:t>
            </a:r>
            <a:endParaRPr sz="88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indent="0" defTabSz="1341120">
              <a:spcBef>
                <a:spcPts val="1300"/>
              </a:spcBef>
              <a:buClrTx/>
              <a:buSzTx/>
              <a:buNone/>
              <a:defRPr sz="2640"/>
            </a:pPr>
            <a:r>
              <a:t>[10]. Chen, L., Jiang, C., Zhong, Q., &amp; Zhang, X., “A deep reinforcement learning approach to cloud resource optimization with response time distributions,” Expert Systems with Applications, vol. 296, art. no. 129081, 2026, doi:10.1016/j.eswa.2025.129081.</a:t>
            </a:r>
            <a:endParaRPr sz="88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indent="0" defTabSz="1341120">
              <a:spcBef>
                <a:spcPts val="1300"/>
              </a:spcBef>
              <a:buClrTx/>
              <a:buSzTx/>
              <a:buNone/>
              <a:defRPr sz="2640"/>
            </a:pPr>
            <a:r>
              <a:t>[11]. Dogani, J., &amp; Khunjush, F., “Proactive auto-scaling technique for web applications in container-based edge computing using federated learning model,” Journal of Parallel and Distributed Computing, vol. 187, art. no. 104837, 2024, doi:10.1016/j.jpdc.2024.104837.</a:t>
            </a:r>
            <a:endParaRPr sz="88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indent="0" defTabSz="1341120">
              <a:spcBef>
                <a:spcPts val="1300"/>
              </a:spcBef>
              <a:buClrTx/>
              <a:buSzTx/>
              <a:buNone/>
              <a:defRPr sz="2640"/>
            </a:pPr>
            <a:r>
              <a:t>[12]. Santos, J., Reppas, E., Wauters, T., Volckaert, B., &amp; De Turck, F., “Gwydion: Efficient auto-scaling for complex containerized applications in Kubernetes through reinforcement learning,” Journal of Network and Computer Applications, vol. 234, art. no. 104067, 2025, doi:10.1016/j.jnca.2024.104067.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2_ColorGradient">
  <a:themeElements>
    <a:clrScheme name="22_ColorGradient">
      <a:dk1>
        <a:srgbClr val="D000FF"/>
      </a:dk1>
      <a:lt1>
        <a:srgbClr val="FFFFFF"/>
      </a:lt1>
      <a:dk2>
        <a:srgbClr val="5E5E5E"/>
      </a:dk2>
      <a:lt2>
        <a:srgbClr val="D5D5D5"/>
      </a:lt2>
      <a:accent1>
        <a:srgbClr val="0076BA"/>
      </a:accent1>
      <a:accent2>
        <a:srgbClr val="05A89D"/>
      </a:accent2>
      <a:accent3>
        <a:srgbClr val="1DB100"/>
      </a:accent3>
      <a:accent4>
        <a:srgbClr val="F9B900"/>
      </a:accent4>
      <a:accent5>
        <a:srgbClr val="EE220D"/>
      </a:accent5>
      <a:accent6>
        <a:srgbClr val="CB297B"/>
      </a:accent6>
      <a:hlink>
        <a:srgbClr val="0000FF"/>
      </a:hlink>
      <a:folHlink>
        <a:srgbClr val="FF00FF"/>
      </a:folHlink>
    </a:clrScheme>
    <a:fontScheme name="22_ColorGradient">
      <a:majorFont>
        <a:latin typeface="Graphik"/>
        <a:ea typeface="Graphik"/>
        <a:cs typeface="Graphik"/>
      </a:majorFont>
      <a:minorFont>
        <a:latin typeface="Graphik Semibold"/>
        <a:ea typeface="Graphik Semibold"/>
        <a:cs typeface="Graphik Semibold"/>
      </a:minorFont>
    </a:fontScheme>
    <a:fmtScheme name="22_ColorGradien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Graphik Medium"/>
            <a:ea typeface="Graphik Medium"/>
            <a:cs typeface="Graphik Medium"/>
            <a:sym typeface="Graphik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FFFFFF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400" rtl="0" fontAlgn="auto" latinLnBrk="0" hangingPunct="0">
          <a:lnSpc>
            <a:spcPct val="100000"/>
          </a:lnSpc>
          <a:spcBef>
            <a:spcPts val="24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j-lt"/>
            <a:ea typeface="+mj-ea"/>
            <a:cs typeface="+mj-cs"/>
            <a:sym typeface="Graphik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2_ColorGradient">
  <a:themeElements>
    <a:clrScheme name="22_ColorGradient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76BA"/>
      </a:accent1>
      <a:accent2>
        <a:srgbClr val="05A89D"/>
      </a:accent2>
      <a:accent3>
        <a:srgbClr val="1DB100"/>
      </a:accent3>
      <a:accent4>
        <a:srgbClr val="F9B900"/>
      </a:accent4>
      <a:accent5>
        <a:srgbClr val="EE220D"/>
      </a:accent5>
      <a:accent6>
        <a:srgbClr val="CB297B"/>
      </a:accent6>
      <a:hlink>
        <a:srgbClr val="0000FF"/>
      </a:hlink>
      <a:folHlink>
        <a:srgbClr val="FF00FF"/>
      </a:folHlink>
    </a:clrScheme>
    <a:fontScheme name="22_ColorGradient">
      <a:majorFont>
        <a:latin typeface="Graphik"/>
        <a:ea typeface="Graphik"/>
        <a:cs typeface="Graphik"/>
      </a:majorFont>
      <a:minorFont>
        <a:latin typeface="Graphik Semibold"/>
        <a:ea typeface="Graphik Semibold"/>
        <a:cs typeface="Graphik Semibold"/>
      </a:minorFont>
    </a:fontScheme>
    <a:fmtScheme name="22_ColorGradien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Graphik Medium"/>
            <a:ea typeface="Graphik Medium"/>
            <a:cs typeface="Graphik Medium"/>
            <a:sym typeface="Graphik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FFFFFF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400" rtl="0" fontAlgn="auto" latinLnBrk="0" hangingPunct="0">
          <a:lnSpc>
            <a:spcPct val="100000"/>
          </a:lnSpc>
          <a:spcBef>
            <a:spcPts val="24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j-lt"/>
            <a:ea typeface="+mj-ea"/>
            <a:cs typeface="+mj-cs"/>
            <a:sym typeface="Graphik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